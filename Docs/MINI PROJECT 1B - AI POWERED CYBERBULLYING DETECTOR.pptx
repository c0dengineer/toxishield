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Raleway" pitchFamily="2" charset="0"/>
      <p:regular r:id="rId32"/>
    </p:embeddedFont>
    <p:embeddedFont>
      <p:font typeface="Raleway Bold" panose="020B0604020202020204" charset="0"/>
      <p:regular r:id="rId33"/>
    </p:embeddedFont>
    <p:embeddedFont>
      <p:font typeface="Raleway Semi-Bold" panose="020B0604020202020204" charset="0"/>
      <p:regular r:id="rId34"/>
    </p:embeddedFont>
    <p:embeddedFont>
      <p:font typeface="TT Lakes Neue" panose="020B0604020202020204" charset="0"/>
      <p:regular r:id="rId35"/>
    </p:embeddedFont>
    <p:embeddedFont>
      <p:font typeface="TT Lakes Neue Bold"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226" y="38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3.mp4"/><Relationship Id="rId1" Type="http://schemas.openxmlformats.org/officeDocument/2006/relationships/video" Target="NULL" TargetMode="Externa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svg"/><Relationship Id="rId7"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 Id="rId9"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sv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file/d/1XwcbNG3QQ0vIXxduGtdamigpSlkNYJxl/view?usp=drive_link" TargetMode="External"/><Relationship Id="rId7"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hyperlink" Target="https://drive.google.com/file/d/1YPbvU259xMTuCVIGoxNYzUmyOhcNXbhV/view?usp=drive_link" TargetMode="External"/><Relationship Id="rId5" Type="http://schemas.openxmlformats.org/officeDocument/2006/relationships/hyperlink" Target="https://drive.google.com/file/d/13m9-ETHKr1BZf73W0vYU1JsMdvVGMstX/view?usp=drive_link" TargetMode="External"/><Relationship Id="rId4" Type="http://schemas.openxmlformats.org/officeDocument/2006/relationships/hyperlink" Target="https://drive.google.com/file/d/1xdv9q-qXgkba-dqjU9TXPxj7Oze4h5Xx/view?usp=drive_li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hyperlink" Target="https://drive.google.com/file/d/1fAt1iYejaj8CcjPpNyi_Fvzn8fZsW5nr/view?usp=sharing" TargetMode="Externa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28700" y="2471022"/>
            <a:ext cx="5126886" cy="5033670"/>
          </a:xfrm>
          <a:custGeom>
            <a:avLst/>
            <a:gdLst/>
            <a:ahLst/>
            <a:cxnLst/>
            <a:rect l="l" t="t" r="r" b="b"/>
            <a:pathLst>
              <a:path w="5126886" h="5033670">
                <a:moveTo>
                  <a:pt x="0" y="0"/>
                </a:moveTo>
                <a:lnTo>
                  <a:pt x="5126886" y="0"/>
                </a:lnTo>
                <a:lnTo>
                  <a:pt x="5126886" y="5033670"/>
                </a:lnTo>
                <a:lnTo>
                  <a:pt x="0" y="503367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510748" y="4397413"/>
            <a:ext cx="16569345" cy="2149873"/>
          </a:xfrm>
          <a:prstGeom prst="rect">
            <a:avLst/>
          </a:prstGeom>
        </p:spPr>
        <p:txBody>
          <a:bodyPr lIns="0" tIns="0" rIns="0" bIns="0" rtlCol="0" anchor="t">
            <a:spAutoFit/>
          </a:bodyPr>
          <a:lstStyle/>
          <a:p>
            <a:pPr algn="l">
              <a:lnSpc>
                <a:spcPts val="8352"/>
              </a:lnSpc>
              <a:spcBef>
                <a:spcPct val="0"/>
              </a:spcBef>
            </a:pPr>
            <a:r>
              <a:rPr lang="en-US" sz="7879" b="1">
                <a:solidFill>
                  <a:srgbClr val="FFFFFF"/>
                </a:solidFill>
                <a:latin typeface="TT Lakes Neue Bold"/>
                <a:ea typeface="TT Lakes Neue Bold"/>
                <a:cs typeface="TT Lakes Neue Bold"/>
                <a:sym typeface="TT Lakes Neue Bold"/>
              </a:rPr>
              <a:t>AI POWERED MULTILINGUAL CYBERBULLYING DETECTOR</a:t>
            </a:r>
          </a:p>
        </p:txBody>
      </p:sp>
      <p:sp>
        <p:nvSpPr>
          <p:cNvPr id="5" name="TextBox 5"/>
          <p:cNvSpPr txBox="1"/>
          <p:nvPr/>
        </p:nvSpPr>
        <p:spPr>
          <a:xfrm>
            <a:off x="11427040" y="7712230"/>
            <a:ext cx="5832260" cy="1546070"/>
          </a:xfrm>
          <a:prstGeom prst="rect">
            <a:avLst/>
          </a:prstGeom>
        </p:spPr>
        <p:txBody>
          <a:bodyPr lIns="0" tIns="0" rIns="0" bIns="0" rtlCol="0" anchor="t">
            <a:spAutoFit/>
          </a:bodyPr>
          <a:lstStyle/>
          <a:p>
            <a:pPr algn="l">
              <a:lnSpc>
                <a:spcPts val="3019"/>
              </a:lnSpc>
            </a:pPr>
            <a:r>
              <a:rPr lang="en-US" sz="2848">
                <a:solidFill>
                  <a:srgbClr val="FFFFFF"/>
                </a:solidFill>
                <a:latin typeface="TT Lakes Neue"/>
                <a:ea typeface="TT Lakes Neue"/>
                <a:cs typeface="TT Lakes Neue"/>
                <a:sym typeface="TT Lakes Neue"/>
              </a:rPr>
              <a:t>SANIA MUSLIAR - 5024139</a:t>
            </a:r>
          </a:p>
          <a:p>
            <a:pPr algn="l">
              <a:lnSpc>
                <a:spcPts val="3019"/>
              </a:lnSpc>
            </a:pPr>
            <a:r>
              <a:rPr lang="en-US" sz="2848">
                <a:solidFill>
                  <a:srgbClr val="FFFFFF"/>
                </a:solidFill>
                <a:latin typeface="TT Lakes Neue"/>
                <a:ea typeface="TT Lakes Neue"/>
                <a:cs typeface="TT Lakes Neue"/>
                <a:sym typeface="TT Lakes Neue"/>
              </a:rPr>
              <a:t>NAVYA ROSHNI - 5024142</a:t>
            </a:r>
          </a:p>
          <a:p>
            <a:pPr algn="l">
              <a:lnSpc>
                <a:spcPts val="3019"/>
              </a:lnSpc>
            </a:pPr>
            <a:r>
              <a:rPr lang="en-US" sz="2848">
                <a:solidFill>
                  <a:srgbClr val="FFFFFF"/>
                </a:solidFill>
                <a:latin typeface="TT Lakes Neue"/>
                <a:ea typeface="TT Lakes Neue"/>
                <a:cs typeface="TT Lakes Neue"/>
                <a:sym typeface="TT Lakes Neue"/>
              </a:rPr>
              <a:t>VISHAKHA TALELE - 5024163</a:t>
            </a:r>
          </a:p>
          <a:p>
            <a:pPr algn="l">
              <a:lnSpc>
                <a:spcPts val="3019"/>
              </a:lnSpc>
              <a:spcBef>
                <a:spcPct val="0"/>
              </a:spcBef>
            </a:pPr>
            <a:r>
              <a:rPr lang="en-US" sz="2848">
                <a:solidFill>
                  <a:srgbClr val="FFFFFF"/>
                </a:solidFill>
                <a:latin typeface="TT Lakes Neue"/>
                <a:ea typeface="TT Lakes Neue"/>
                <a:cs typeface="TT Lakes Neue"/>
                <a:sym typeface="TT Lakes Neue"/>
              </a:rPr>
              <a:t>TANAYA DESHMUKH - 5024168</a:t>
            </a:r>
          </a:p>
        </p:txBody>
      </p:sp>
      <p:sp>
        <p:nvSpPr>
          <p:cNvPr id="6" name="TextBox 6"/>
          <p:cNvSpPr txBox="1"/>
          <p:nvPr/>
        </p:nvSpPr>
        <p:spPr>
          <a:xfrm>
            <a:off x="1028700" y="7552317"/>
            <a:ext cx="8766720" cy="459615"/>
          </a:xfrm>
          <a:prstGeom prst="rect">
            <a:avLst/>
          </a:prstGeom>
        </p:spPr>
        <p:txBody>
          <a:bodyPr lIns="0" tIns="0" rIns="0" bIns="0" rtlCol="0" anchor="t">
            <a:spAutoFit/>
          </a:bodyPr>
          <a:lstStyle/>
          <a:p>
            <a:pPr algn="ctr">
              <a:lnSpc>
                <a:spcPts val="3551"/>
              </a:lnSpc>
              <a:spcBef>
                <a:spcPct val="0"/>
              </a:spcBef>
            </a:pPr>
            <a:r>
              <a:rPr lang="en-US" sz="3350">
                <a:solidFill>
                  <a:srgbClr val="FFFFFF"/>
                </a:solidFill>
                <a:latin typeface="TT Lakes Neue"/>
                <a:ea typeface="TT Lakes Neue"/>
                <a:cs typeface="TT Lakes Neue"/>
                <a:sym typeface="TT Lakes Neue"/>
              </a:rPr>
              <a:t>PROJECT GUIDE :  DR. TRUPTI  LOTLIKAR</a:t>
            </a:r>
          </a:p>
        </p:txBody>
      </p:sp>
      <p:sp>
        <p:nvSpPr>
          <p:cNvPr id="7" name="TextBox 7"/>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200474" y="3170274"/>
            <a:ext cx="18688947" cy="5507482"/>
            <a:chOff x="0" y="0"/>
            <a:chExt cx="4922192" cy="1450530"/>
          </a:xfrm>
        </p:grpSpPr>
        <p:sp>
          <p:nvSpPr>
            <p:cNvPr id="6" name="Freeform 6"/>
            <p:cNvSpPr/>
            <p:nvPr/>
          </p:nvSpPr>
          <p:spPr>
            <a:xfrm>
              <a:off x="0" y="0"/>
              <a:ext cx="4922192" cy="1450530"/>
            </a:xfrm>
            <a:custGeom>
              <a:avLst/>
              <a:gdLst/>
              <a:ahLst/>
              <a:cxnLst/>
              <a:rect l="l" t="t" r="r" b="b"/>
              <a:pathLst>
                <a:path w="4922192" h="1450530">
                  <a:moveTo>
                    <a:pt x="0" y="0"/>
                  </a:moveTo>
                  <a:lnTo>
                    <a:pt x="4922192" y="0"/>
                  </a:lnTo>
                  <a:lnTo>
                    <a:pt x="4922192" y="1450530"/>
                  </a:lnTo>
                  <a:lnTo>
                    <a:pt x="0" y="1450530"/>
                  </a:lnTo>
                  <a:close/>
                </a:path>
              </a:pathLst>
            </a:custGeom>
            <a:gradFill rotWithShape="1">
              <a:gsLst>
                <a:gs pos="0">
                  <a:srgbClr val="131F40">
                    <a:alpha val="75000"/>
                  </a:srgbClr>
                </a:gs>
                <a:gs pos="100000">
                  <a:srgbClr val="3D6D81">
                    <a:alpha val="75000"/>
                  </a:srgbClr>
                </a:gs>
              </a:gsLst>
              <a:lin ang="0"/>
            </a:gradFill>
          </p:spPr>
        </p:sp>
        <p:sp>
          <p:nvSpPr>
            <p:cNvPr id="7" name="TextBox 7"/>
            <p:cNvSpPr txBox="1"/>
            <p:nvPr/>
          </p:nvSpPr>
          <p:spPr>
            <a:xfrm>
              <a:off x="0" y="28575"/>
              <a:ext cx="4922192" cy="1421955"/>
            </a:xfrm>
            <a:prstGeom prst="rect">
              <a:avLst/>
            </a:prstGeom>
          </p:spPr>
          <p:txBody>
            <a:bodyPr lIns="50800" tIns="50800" rIns="50800" bIns="50800" rtlCol="0" anchor="ctr"/>
            <a:lstStyle/>
            <a:p>
              <a:pPr algn="ctr">
                <a:lnSpc>
                  <a:spcPts val="2181"/>
                </a:lnSpc>
              </a:pPr>
              <a:endParaRPr/>
            </a:p>
          </p:txBody>
        </p:sp>
      </p:grpSp>
      <p:sp>
        <p:nvSpPr>
          <p:cNvPr id="8" name="TextBox 8"/>
          <p:cNvSpPr txBox="1"/>
          <p:nvPr/>
        </p:nvSpPr>
        <p:spPr>
          <a:xfrm>
            <a:off x="2006829" y="3664088"/>
            <a:ext cx="14288758" cy="4719843"/>
          </a:xfrm>
          <a:prstGeom prst="rect">
            <a:avLst/>
          </a:prstGeom>
        </p:spPr>
        <p:txBody>
          <a:bodyPr lIns="0" tIns="0" rIns="0" bIns="0" rtlCol="0" anchor="t">
            <a:spAutoFit/>
          </a:bodyPr>
          <a:lstStyle/>
          <a:p>
            <a:pPr algn="just">
              <a:lnSpc>
                <a:spcPts val="3135"/>
              </a:lnSpc>
            </a:pPr>
            <a:r>
              <a:rPr lang="en-US" sz="2957" b="1">
                <a:solidFill>
                  <a:srgbClr val="FFFFFF"/>
                </a:solidFill>
                <a:latin typeface="Raleway Semi-Bold"/>
                <a:ea typeface="Raleway Semi-Bold"/>
                <a:cs typeface="Raleway Semi-Bold"/>
                <a:sym typeface="Raleway Semi-Bold"/>
              </a:rPr>
              <a:t>Our project leverages Artificial Intelligence (AI) and Natural Language Processing (NLP) to enable real-time detection of toxic or harmful content in online conversations. By integrating a multilingual model, the system can accurately identify and filter abusive, hateful, or harassing language across a wide range of languages, ensuring inclusivity and global applicability. Unlike static or single-language systems, our solution is designed to work seamlessly across multiple social media platforms through a browser extension, allowing users to experience safe and respectful online interactions without platform restrictions. Additionally, it provides instant alerts and filters out offensive content before the user even reads it, helping to reduce emotional distress and promote a healthier digital environment.</a:t>
            </a:r>
          </a:p>
          <a:p>
            <a:pPr algn="just">
              <a:lnSpc>
                <a:spcPts val="3135"/>
              </a:lnSpc>
            </a:pPr>
            <a:endParaRPr lang="en-US" sz="2957" b="1">
              <a:solidFill>
                <a:srgbClr val="FFFFFF"/>
              </a:solidFill>
              <a:latin typeface="Raleway Semi-Bold"/>
              <a:ea typeface="Raleway Semi-Bold"/>
              <a:cs typeface="Raleway Semi-Bold"/>
              <a:sym typeface="Raleway Semi-Bold"/>
            </a:endParaRPr>
          </a:p>
        </p:txBody>
      </p:sp>
      <p:sp>
        <p:nvSpPr>
          <p:cNvPr id="9" name="TextBox 9"/>
          <p:cNvSpPr txBox="1"/>
          <p:nvPr/>
        </p:nvSpPr>
        <p:spPr>
          <a:xfrm>
            <a:off x="5862279" y="1150298"/>
            <a:ext cx="6563442"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ABSTRACT</a:t>
            </a:r>
          </a:p>
        </p:txBody>
      </p:sp>
      <p:sp>
        <p:nvSpPr>
          <p:cNvPr id="10" name="TextBox 10"/>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36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5" name="Freeform 5"/>
          <p:cNvSpPr/>
          <p:nvPr/>
        </p:nvSpPr>
        <p:spPr>
          <a:xfrm>
            <a:off x="8576584" y="3566560"/>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6" name="Freeform 6"/>
          <p:cNvSpPr/>
          <p:nvPr/>
        </p:nvSpPr>
        <p:spPr>
          <a:xfrm>
            <a:off x="8576584" y="5298474"/>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7" name="Freeform 7"/>
          <p:cNvSpPr/>
          <p:nvPr/>
        </p:nvSpPr>
        <p:spPr>
          <a:xfrm>
            <a:off x="8576584" y="7250977"/>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8" name="Freeform 8"/>
          <p:cNvSpPr/>
          <p:nvPr/>
        </p:nvSpPr>
        <p:spPr>
          <a:xfrm rot="-5400000">
            <a:off x="1952868" y="2020856"/>
            <a:ext cx="4951225" cy="7916203"/>
          </a:xfrm>
          <a:custGeom>
            <a:avLst/>
            <a:gdLst/>
            <a:ahLst/>
            <a:cxnLst/>
            <a:rect l="l" t="t" r="r" b="b"/>
            <a:pathLst>
              <a:path w="4951225" h="7916203">
                <a:moveTo>
                  <a:pt x="0" y="0"/>
                </a:moveTo>
                <a:lnTo>
                  <a:pt x="4951225" y="0"/>
                </a:lnTo>
                <a:lnTo>
                  <a:pt x="4951225" y="7916203"/>
                </a:lnTo>
                <a:lnTo>
                  <a:pt x="0" y="79162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338303" y="3830888"/>
            <a:ext cx="6064504" cy="3973337"/>
          </a:xfrm>
          <a:custGeom>
            <a:avLst/>
            <a:gdLst/>
            <a:ahLst/>
            <a:cxnLst/>
            <a:rect l="l" t="t" r="r" b="b"/>
            <a:pathLst>
              <a:path w="6064504" h="3973337">
                <a:moveTo>
                  <a:pt x="0" y="0"/>
                </a:moveTo>
                <a:lnTo>
                  <a:pt x="6064504" y="0"/>
                </a:lnTo>
                <a:lnTo>
                  <a:pt x="6064504" y="3973337"/>
                </a:lnTo>
                <a:lnTo>
                  <a:pt x="0" y="3973337"/>
                </a:lnTo>
                <a:lnTo>
                  <a:pt x="0" y="0"/>
                </a:lnTo>
                <a:close/>
              </a:path>
            </a:pathLst>
          </a:custGeom>
          <a:blipFill>
            <a:blip r:embed="rId5"/>
            <a:stretch>
              <a:fillRect l="-21770" t="-9174" r="-23376" b="-11840"/>
            </a:stretch>
          </a:blipFill>
        </p:spPr>
      </p:sp>
      <p:sp>
        <p:nvSpPr>
          <p:cNvPr id="10" name="TextBox 10"/>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11" name="TextBox 11"/>
          <p:cNvSpPr txBox="1"/>
          <p:nvPr/>
        </p:nvSpPr>
        <p:spPr>
          <a:xfrm>
            <a:off x="5188421" y="954693"/>
            <a:ext cx="7911159" cy="2302542"/>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PROBLEM </a:t>
            </a:r>
            <a:r>
              <a:rPr lang="en-US" sz="8430" b="1">
                <a:solidFill>
                  <a:srgbClr val="FFFFFF"/>
                </a:solidFill>
                <a:latin typeface="TT Lakes Neue Bold"/>
                <a:ea typeface="TT Lakes Neue Bold"/>
                <a:cs typeface="TT Lakes Neue Bold"/>
                <a:sym typeface="TT Lakes Neue Bold"/>
              </a:rPr>
              <a:t>STATEMENT</a:t>
            </a:r>
          </a:p>
        </p:txBody>
      </p:sp>
      <p:sp>
        <p:nvSpPr>
          <p:cNvPr id="12" name="TextBox 12"/>
          <p:cNvSpPr txBox="1"/>
          <p:nvPr/>
        </p:nvSpPr>
        <p:spPr>
          <a:xfrm>
            <a:off x="9020194" y="3894271"/>
            <a:ext cx="283352" cy="318010"/>
          </a:xfrm>
          <a:prstGeom prst="rect">
            <a:avLst/>
          </a:prstGeom>
        </p:spPr>
        <p:txBody>
          <a:bodyPr lIns="0" tIns="0" rIns="0" bIns="0" rtlCol="0" anchor="t">
            <a:spAutoFit/>
          </a:bodyPr>
          <a:lstStyle/>
          <a:p>
            <a:pPr algn="l">
              <a:lnSpc>
                <a:spcPts val="2491"/>
              </a:lnSpc>
              <a:spcBef>
                <a:spcPct val="0"/>
              </a:spcBef>
            </a:pPr>
            <a:r>
              <a:rPr lang="en-US" sz="2350">
                <a:solidFill>
                  <a:srgbClr val="FFFFFF"/>
                </a:solidFill>
                <a:latin typeface="TT Lakes Neue"/>
                <a:ea typeface="TT Lakes Neue"/>
                <a:cs typeface="TT Lakes Neue"/>
                <a:sym typeface="TT Lakes Neue"/>
              </a:rPr>
              <a:t>1.</a:t>
            </a:r>
          </a:p>
        </p:txBody>
      </p:sp>
      <p:sp>
        <p:nvSpPr>
          <p:cNvPr id="13" name="TextBox 13"/>
          <p:cNvSpPr txBox="1"/>
          <p:nvPr/>
        </p:nvSpPr>
        <p:spPr>
          <a:xfrm>
            <a:off x="9845731" y="3587761"/>
            <a:ext cx="6967713" cy="692739"/>
          </a:xfrm>
          <a:prstGeom prst="rect">
            <a:avLst/>
          </a:prstGeom>
        </p:spPr>
        <p:txBody>
          <a:bodyPr lIns="0" tIns="0" rIns="0" bIns="0" rtlCol="0" anchor="t">
            <a:spAutoFit/>
          </a:bodyPr>
          <a:lstStyle/>
          <a:p>
            <a:pPr algn="l">
              <a:lnSpc>
                <a:spcPts val="2685"/>
              </a:lnSpc>
            </a:pPr>
            <a:r>
              <a:rPr lang="en-US" sz="2533" b="1">
                <a:solidFill>
                  <a:srgbClr val="FFFFFF"/>
                </a:solidFill>
                <a:latin typeface="Raleway Bold"/>
                <a:ea typeface="Raleway Bold"/>
                <a:cs typeface="Raleway Bold"/>
                <a:sym typeface="Raleway Bold"/>
              </a:rPr>
              <a:t>Cyberbullying and toxic interactions are globes on multilingual platforms.</a:t>
            </a:r>
          </a:p>
        </p:txBody>
      </p:sp>
      <p:sp>
        <p:nvSpPr>
          <p:cNvPr id="14" name="TextBox 14"/>
          <p:cNvSpPr txBox="1"/>
          <p:nvPr/>
        </p:nvSpPr>
        <p:spPr>
          <a:xfrm>
            <a:off x="9020194" y="5626185"/>
            <a:ext cx="283352" cy="318010"/>
          </a:xfrm>
          <a:prstGeom prst="rect">
            <a:avLst/>
          </a:prstGeom>
        </p:spPr>
        <p:txBody>
          <a:bodyPr lIns="0" tIns="0" rIns="0" bIns="0" rtlCol="0" anchor="t">
            <a:spAutoFit/>
          </a:bodyPr>
          <a:lstStyle/>
          <a:p>
            <a:pPr algn="l">
              <a:lnSpc>
                <a:spcPts val="2491"/>
              </a:lnSpc>
              <a:spcBef>
                <a:spcPct val="0"/>
              </a:spcBef>
            </a:pPr>
            <a:r>
              <a:rPr lang="en-US" sz="2350">
                <a:solidFill>
                  <a:srgbClr val="FFFFFF"/>
                </a:solidFill>
                <a:latin typeface="TT Lakes Neue"/>
                <a:ea typeface="TT Lakes Neue"/>
                <a:cs typeface="TT Lakes Neue"/>
                <a:sym typeface="TT Lakes Neue"/>
              </a:rPr>
              <a:t>2.</a:t>
            </a:r>
          </a:p>
        </p:txBody>
      </p:sp>
      <p:sp>
        <p:nvSpPr>
          <p:cNvPr id="15" name="TextBox 15"/>
          <p:cNvSpPr txBox="1"/>
          <p:nvPr/>
        </p:nvSpPr>
        <p:spPr>
          <a:xfrm>
            <a:off x="9845731" y="5162550"/>
            <a:ext cx="6967713" cy="1359489"/>
          </a:xfrm>
          <a:prstGeom prst="rect">
            <a:avLst/>
          </a:prstGeom>
        </p:spPr>
        <p:txBody>
          <a:bodyPr lIns="0" tIns="0" rIns="0" bIns="0" rtlCol="0" anchor="t">
            <a:spAutoFit/>
          </a:bodyPr>
          <a:lstStyle/>
          <a:p>
            <a:pPr algn="l">
              <a:lnSpc>
                <a:spcPts val="2685"/>
              </a:lnSpc>
              <a:spcBef>
                <a:spcPct val="0"/>
              </a:spcBef>
            </a:pPr>
            <a:r>
              <a:rPr lang="en-US" sz="2533" b="1">
                <a:solidFill>
                  <a:srgbClr val="FFFFFF"/>
                </a:solidFill>
                <a:latin typeface="Raleway Bold"/>
                <a:ea typeface="Raleway Bold"/>
                <a:cs typeface="Raleway Bold"/>
                <a:sym typeface="Raleway Bold"/>
              </a:rPr>
              <a:t>Current detection systems are language-specific, lack real-time intervention, and do not provide user friendly solutions for blocking harmful content. </a:t>
            </a:r>
          </a:p>
        </p:txBody>
      </p:sp>
      <p:sp>
        <p:nvSpPr>
          <p:cNvPr id="16" name="TextBox 16"/>
          <p:cNvSpPr txBox="1"/>
          <p:nvPr/>
        </p:nvSpPr>
        <p:spPr>
          <a:xfrm>
            <a:off x="9020194" y="7578688"/>
            <a:ext cx="283352" cy="318010"/>
          </a:xfrm>
          <a:prstGeom prst="rect">
            <a:avLst/>
          </a:prstGeom>
        </p:spPr>
        <p:txBody>
          <a:bodyPr lIns="0" tIns="0" rIns="0" bIns="0" rtlCol="0" anchor="t">
            <a:spAutoFit/>
          </a:bodyPr>
          <a:lstStyle/>
          <a:p>
            <a:pPr algn="l">
              <a:lnSpc>
                <a:spcPts val="2491"/>
              </a:lnSpc>
              <a:spcBef>
                <a:spcPct val="0"/>
              </a:spcBef>
            </a:pPr>
            <a:r>
              <a:rPr lang="en-US" sz="2350">
                <a:solidFill>
                  <a:srgbClr val="FFFFFF"/>
                </a:solidFill>
                <a:latin typeface="TT Lakes Neue"/>
                <a:ea typeface="TT Lakes Neue"/>
                <a:cs typeface="TT Lakes Neue"/>
                <a:sym typeface="TT Lakes Neue"/>
              </a:rPr>
              <a:t>3.</a:t>
            </a:r>
          </a:p>
        </p:txBody>
      </p:sp>
      <p:sp>
        <p:nvSpPr>
          <p:cNvPr id="17" name="TextBox 17"/>
          <p:cNvSpPr txBox="1"/>
          <p:nvPr/>
        </p:nvSpPr>
        <p:spPr>
          <a:xfrm>
            <a:off x="9845731" y="7245939"/>
            <a:ext cx="6967713" cy="1359489"/>
          </a:xfrm>
          <a:prstGeom prst="rect">
            <a:avLst/>
          </a:prstGeom>
        </p:spPr>
        <p:txBody>
          <a:bodyPr lIns="0" tIns="0" rIns="0" bIns="0" rtlCol="0" anchor="t">
            <a:spAutoFit/>
          </a:bodyPr>
          <a:lstStyle/>
          <a:p>
            <a:pPr algn="l">
              <a:lnSpc>
                <a:spcPts val="2685"/>
              </a:lnSpc>
            </a:pPr>
            <a:r>
              <a:rPr lang="en-US" sz="2533" b="1">
                <a:solidFill>
                  <a:srgbClr val="FFFFFF"/>
                </a:solidFill>
                <a:latin typeface="Raleway Bold"/>
                <a:ea typeface="Raleway Bold"/>
                <a:cs typeface="Raleway Bold"/>
                <a:sym typeface="Raleway Bold"/>
              </a:rPr>
              <a:t>An AI-powered, multilingual, real-time. detection tool is required to address toxic behavior across various online environments.</a:t>
            </a:r>
          </a:p>
          <a:p>
            <a:pPr algn="l">
              <a:lnSpc>
                <a:spcPts val="2685"/>
              </a:lnSpc>
              <a:spcBef>
                <a:spcPct val="0"/>
              </a:spcBef>
            </a:pPr>
            <a:endParaRPr lang="en-US" sz="2533" b="1">
              <a:solidFill>
                <a:srgbClr val="FFFFFF"/>
              </a:solidFill>
              <a:latin typeface="Raleway Bold"/>
              <a:ea typeface="Raleway Bold"/>
              <a:cs typeface="Raleway Bold"/>
              <a:sym typeface="Raleway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9509488" y="3321445"/>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2181052" y="1499040"/>
            <a:ext cx="5082156" cy="8125539"/>
          </a:xfrm>
          <a:custGeom>
            <a:avLst/>
            <a:gdLst/>
            <a:ahLst/>
            <a:cxnLst/>
            <a:rect l="l" t="t" r="r" b="b"/>
            <a:pathLst>
              <a:path w="5082156" h="8125539">
                <a:moveTo>
                  <a:pt x="0" y="0"/>
                </a:moveTo>
                <a:lnTo>
                  <a:pt x="5082156" y="0"/>
                </a:lnTo>
                <a:lnTo>
                  <a:pt x="5082156" y="8125539"/>
                </a:lnTo>
                <a:lnTo>
                  <a:pt x="0" y="81255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17686" y="3232599"/>
            <a:ext cx="6608888" cy="4352179"/>
            <a:chOff x="0" y="0"/>
            <a:chExt cx="812800" cy="535257"/>
          </a:xfrm>
        </p:grpSpPr>
        <p:sp>
          <p:nvSpPr>
            <p:cNvPr id="7" name="Freeform 7"/>
            <p:cNvSpPr/>
            <p:nvPr/>
          </p:nvSpPr>
          <p:spPr>
            <a:xfrm>
              <a:off x="0" y="0"/>
              <a:ext cx="812800" cy="535257"/>
            </a:xfrm>
            <a:custGeom>
              <a:avLst/>
              <a:gdLst/>
              <a:ahLst/>
              <a:cxnLst/>
              <a:rect l="l" t="t" r="r" b="b"/>
              <a:pathLst>
                <a:path w="812800" h="535257">
                  <a:moveTo>
                    <a:pt x="0" y="0"/>
                  </a:moveTo>
                  <a:lnTo>
                    <a:pt x="812800" y="0"/>
                  </a:lnTo>
                  <a:lnTo>
                    <a:pt x="812800" y="535257"/>
                  </a:lnTo>
                  <a:lnTo>
                    <a:pt x="0" y="535257"/>
                  </a:lnTo>
                  <a:close/>
                </a:path>
              </a:pathLst>
            </a:custGeom>
            <a:blipFill>
              <a:blip r:embed="rId5"/>
              <a:stretch>
                <a:fillRect l="-4877" r="-4877"/>
              </a:stretch>
            </a:blipFill>
          </p:spPr>
        </p:sp>
      </p:grpSp>
      <p:sp>
        <p:nvSpPr>
          <p:cNvPr id="8" name="Freeform 8"/>
          <p:cNvSpPr/>
          <p:nvPr/>
        </p:nvSpPr>
        <p:spPr>
          <a:xfrm>
            <a:off x="9509488" y="5036558"/>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9" name="Freeform 9"/>
          <p:cNvSpPr/>
          <p:nvPr/>
        </p:nvSpPr>
        <p:spPr>
          <a:xfrm>
            <a:off x="9509488" y="6781098"/>
            <a:ext cx="887220" cy="871089"/>
          </a:xfrm>
          <a:custGeom>
            <a:avLst/>
            <a:gdLst/>
            <a:ahLst/>
            <a:cxnLst/>
            <a:rect l="l" t="t" r="r" b="b"/>
            <a:pathLst>
              <a:path w="887220" h="871089">
                <a:moveTo>
                  <a:pt x="0" y="0"/>
                </a:moveTo>
                <a:lnTo>
                  <a:pt x="887221" y="0"/>
                </a:lnTo>
                <a:lnTo>
                  <a:pt x="887221" y="871089"/>
                </a:lnTo>
                <a:lnTo>
                  <a:pt x="0" y="871089"/>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4722130" y="1150298"/>
            <a:ext cx="9574716"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INTRODUCTION</a:t>
            </a:r>
          </a:p>
        </p:txBody>
      </p:sp>
      <p:sp>
        <p:nvSpPr>
          <p:cNvPr id="11" name="TextBox 11"/>
          <p:cNvSpPr txBox="1"/>
          <p:nvPr/>
        </p:nvSpPr>
        <p:spPr>
          <a:xfrm>
            <a:off x="9953098" y="3639631"/>
            <a:ext cx="283352" cy="370969"/>
          </a:xfrm>
          <a:prstGeom prst="rect">
            <a:avLst/>
          </a:prstGeom>
        </p:spPr>
        <p:txBody>
          <a:bodyPr lIns="0" tIns="0" rIns="0" bIns="0" rtlCol="0" anchor="t">
            <a:spAutoFit/>
          </a:bodyPr>
          <a:lstStyle/>
          <a:p>
            <a:pPr algn="l">
              <a:lnSpc>
                <a:spcPts val="2809"/>
              </a:lnSpc>
              <a:spcBef>
                <a:spcPct val="0"/>
              </a:spcBef>
            </a:pPr>
            <a:r>
              <a:rPr lang="en-US" sz="2650">
                <a:solidFill>
                  <a:srgbClr val="FFFFFF"/>
                </a:solidFill>
                <a:latin typeface="TT Lakes Neue"/>
                <a:ea typeface="TT Lakes Neue"/>
                <a:cs typeface="TT Lakes Neue"/>
                <a:sym typeface="TT Lakes Neue"/>
              </a:rPr>
              <a:t>1.</a:t>
            </a:r>
          </a:p>
        </p:txBody>
      </p:sp>
      <p:sp>
        <p:nvSpPr>
          <p:cNvPr id="12" name="TextBox 12"/>
          <p:cNvSpPr txBox="1"/>
          <p:nvPr/>
        </p:nvSpPr>
        <p:spPr>
          <a:xfrm>
            <a:off x="10778635" y="3342646"/>
            <a:ext cx="6480665" cy="1174323"/>
          </a:xfrm>
          <a:prstGeom prst="rect">
            <a:avLst/>
          </a:prstGeom>
        </p:spPr>
        <p:txBody>
          <a:bodyPr lIns="0" tIns="0" rIns="0" bIns="0" rtlCol="0" anchor="t">
            <a:spAutoFit/>
          </a:bodyPr>
          <a:lstStyle/>
          <a:p>
            <a:pPr algn="l">
              <a:lnSpc>
                <a:spcPts val="3003"/>
              </a:lnSpc>
            </a:pPr>
            <a:r>
              <a:rPr lang="en-US" sz="2833" b="1">
                <a:solidFill>
                  <a:srgbClr val="FFFFFF"/>
                </a:solidFill>
                <a:latin typeface="Raleway Bold"/>
                <a:ea typeface="Raleway Bold"/>
                <a:cs typeface="Raleway Bold"/>
                <a:sym typeface="Raleway Bold"/>
              </a:rPr>
              <a:t>Rise of social media usage across</a:t>
            </a:r>
          </a:p>
          <a:p>
            <a:pPr algn="l">
              <a:lnSpc>
                <a:spcPts val="3003"/>
              </a:lnSpc>
            </a:pPr>
            <a:r>
              <a:rPr lang="en-US" sz="2833" b="1">
                <a:solidFill>
                  <a:srgbClr val="FFFFFF"/>
                </a:solidFill>
                <a:latin typeface="Raleway Bold"/>
                <a:ea typeface="Raleway Bold"/>
                <a:cs typeface="Raleway Bold"/>
                <a:sym typeface="Raleway Bold"/>
              </a:rPr>
              <a:t>age groups.</a:t>
            </a:r>
          </a:p>
          <a:p>
            <a:pPr algn="l">
              <a:lnSpc>
                <a:spcPts val="3003"/>
              </a:lnSpc>
              <a:spcBef>
                <a:spcPct val="0"/>
              </a:spcBef>
            </a:pPr>
            <a:endParaRPr lang="en-US" sz="2833" b="1">
              <a:solidFill>
                <a:srgbClr val="FFFFFF"/>
              </a:solidFill>
              <a:latin typeface="Raleway Bold"/>
              <a:ea typeface="Raleway Bold"/>
              <a:cs typeface="Raleway Bold"/>
              <a:sym typeface="Raleway Bold"/>
            </a:endParaRPr>
          </a:p>
        </p:txBody>
      </p:sp>
      <p:sp>
        <p:nvSpPr>
          <p:cNvPr id="13" name="TextBox 13"/>
          <p:cNvSpPr txBox="1"/>
          <p:nvPr/>
        </p:nvSpPr>
        <p:spPr>
          <a:xfrm>
            <a:off x="9953098" y="5354744"/>
            <a:ext cx="283352" cy="370969"/>
          </a:xfrm>
          <a:prstGeom prst="rect">
            <a:avLst/>
          </a:prstGeom>
        </p:spPr>
        <p:txBody>
          <a:bodyPr lIns="0" tIns="0" rIns="0" bIns="0" rtlCol="0" anchor="t">
            <a:spAutoFit/>
          </a:bodyPr>
          <a:lstStyle/>
          <a:p>
            <a:pPr algn="l">
              <a:lnSpc>
                <a:spcPts val="2809"/>
              </a:lnSpc>
              <a:spcBef>
                <a:spcPct val="0"/>
              </a:spcBef>
            </a:pPr>
            <a:r>
              <a:rPr lang="en-US" sz="2650">
                <a:solidFill>
                  <a:srgbClr val="FFFFFF"/>
                </a:solidFill>
                <a:latin typeface="TT Lakes Neue"/>
                <a:ea typeface="TT Lakes Neue"/>
                <a:cs typeface="TT Lakes Neue"/>
                <a:sym typeface="TT Lakes Neue"/>
              </a:rPr>
              <a:t>2.</a:t>
            </a:r>
          </a:p>
        </p:txBody>
      </p:sp>
      <p:sp>
        <p:nvSpPr>
          <p:cNvPr id="14" name="TextBox 14"/>
          <p:cNvSpPr txBox="1"/>
          <p:nvPr/>
        </p:nvSpPr>
        <p:spPr>
          <a:xfrm>
            <a:off x="10778635" y="5189498"/>
            <a:ext cx="6480665" cy="1174323"/>
          </a:xfrm>
          <a:prstGeom prst="rect">
            <a:avLst/>
          </a:prstGeom>
        </p:spPr>
        <p:txBody>
          <a:bodyPr lIns="0" tIns="0" rIns="0" bIns="0" rtlCol="0" anchor="t">
            <a:spAutoFit/>
          </a:bodyPr>
          <a:lstStyle/>
          <a:p>
            <a:pPr algn="l">
              <a:lnSpc>
                <a:spcPts val="3003"/>
              </a:lnSpc>
            </a:pPr>
            <a:r>
              <a:rPr lang="en-US" sz="2833" b="1">
                <a:solidFill>
                  <a:srgbClr val="FFFFFF"/>
                </a:solidFill>
                <a:latin typeface="Raleway Bold"/>
                <a:ea typeface="Raleway Bold"/>
                <a:cs typeface="Raleway Bold"/>
                <a:sym typeface="Raleway Bold"/>
              </a:rPr>
              <a:t>Increase in cyberbullying and toxic online behavior.</a:t>
            </a:r>
          </a:p>
          <a:p>
            <a:pPr algn="l">
              <a:lnSpc>
                <a:spcPts val="3003"/>
              </a:lnSpc>
              <a:spcBef>
                <a:spcPct val="0"/>
              </a:spcBef>
            </a:pPr>
            <a:endParaRPr lang="en-US" sz="2833" b="1">
              <a:solidFill>
                <a:srgbClr val="FFFFFF"/>
              </a:solidFill>
              <a:latin typeface="Raleway Bold"/>
              <a:ea typeface="Raleway Bold"/>
              <a:cs typeface="Raleway Bold"/>
              <a:sym typeface="Raleway Bold"/>
            </a:endParaRPr>
          </a:p>
        </p:txBody>
      </p:sp>
      <p:sp>
        <p:nvSpPr>
          <p:cNvPr id="15" name="TextBox 15"/>
          <p:cNvSpPr txBox="1"/>
          <p:nvPr/>
        </p:nvSpPr>
        <p:spPr>
          <a:xfrm>
            <a:off x="9953098" y="7099285"/>
            <a:ext cx="283352" cy="370969"/>
          </a:xfrm>
          <a:prstGeom prst="rect">
            <a:avLst/>
          </a:prstGeom>
        </p:spPr>
        <p:txBody>
          <a:bodyPr lIns="0" tIns="0" rIns="0" bIns="0" rtlCol="0" anchor="t">
            <a:spAutoFit/>
          </a:bodyPr>
          <a:lstStyle/>
          <a:p>
            <a:pPr algn="l">
              <a:lnSpc>
                <a:spcPts val="2809"/>
              </a:lnSpc>
              <a:spcBef>
                <a:spcPct val="0"/>
              </a:spcBef>
            </a:pPr>
            <a:r>
              <a:rPr lang="en-US" sz="2650">
                <a:solidFill>
                  <a:srgbClr val="FFFFFF"/>
                </a:solidFill>
                <a:latin typeface="TT Lakes Neue"/>
                <a:ea typeface="TT Lakes Neue"/>
                <a:cs typeface="TT Lakes Neue"/>
                <a:sym typeface="TT Lakes Neue"/>
              </a:rPr>
              <a:t>3.</a:t>
            </a:r>
          </a:p>
        </p:txBody>
      </p:sp>
      <p:sp>
        <p:nvSpPr>
          <p:cNvPr id="16" name="TextBox 16"/>
          <p:cNvSpPr txBox="1"/>
          <p:nvPr/>
        </p:nvSpPr>
        <p:spPr>
          <a:xfrm>
            <a:off x="10778635" y="6776060"/>
            <a:ext cx="6480665" cy="1174323"/>
          </a:xfrm>
          <a:prstGeom prst="rect">
            <a:avLst/>
          </a:prstGeom>
        </p:spPr>
        <p:txBody>
          <a:bodyPr lIns="0" tIns="0" rIns="0" bIns="0" rtlCol="0" anchor="t">
            <a:spAutoFit/>
          </a:bodyPr>
          <a:lstStyle/>
          <a:p>
            <a:pPr algn="l">
              <a:lnSpc>
                <a:spcPts val="3003"/>
              </a:lnSpc>
            </a:pPr>
            <a:r>
              <a:rPr lang="en-US" sz="2833" b="1">
                <a:solidFill>
                  <a:srgbClr val="FFFFFF"/>
                </a:solidFill>
                <a:latin typeface="Raleway Bold"/>
                <a:ea typeface="Raleway Bold"/>
                <a:cs typeface="Raleway Bold"/>
                <a:sym typeface="Raleway Bold"/>
              </a:rPr>
              <a:t>Need for real-time, multilingual,</a:t>
            </a:r>
          </a:p>
          <a:p>
            <a:pPr algn="l">
              <a:lnSpc>
                <a:spcPts val="3003"/>
              </a:lnSpc>
            </a:pPr>
            <a:r>
              <a:rPr lang="en-US" sz="2833" b="1">
                <a:solidFill>
                  <a:srgbClr val="FFFFFF"/>
                </a:solidFill>
                <a:latin typeface="Raleway Bold"/>
                <a:ea typeface="Raleway Bold"/>
                <a:cs typeface="Raleway Bold"/>
                <a:sym typeface="Raleway Bold"/>
              </a:rPr>
              <a:t>context-aware solutions.</a:t>
            </a:r>
          </a:p>
          <a:p>
            <a:pPr algn="l">
              <a:lnSpc>
                <a:spcPts val="3003"/>
              </a:lnSpc>
              <a:spcBef>
                <a:spcPct val="0"/>
              </a:spcBef>
            </a:pPr>
            <a:endParaRPr lang="en-US" sz="2833" b="1">
              <a:solidFill>
                <a:srgbClr val="FFFFFF"/>
              </a:solidFill>
              <a:latin typeface="Raleway Bold"/>
              <a:ea typeface="Raleway Bold"/>
              <a:cs typeface="Raleway Bold"/>
              <a:sym typeface="Raleway Bold"/>
            </a:endParaRPr>
          </a:p>
        </p:txBody>
      </p:sp>
      <p:sp>
        <p:nvSpPr>
          <p:cNvPr id="17" name="Freeform 17"/>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aphicFrame>
        <p:nvGraphicFramePr>
          <p:cNvPr id="5" name="Table 5"/>
          <p:cNvGraphicFramePr>
            <a:graphicFrameLocks noGrp="1"/>
          </p:cNvGraphicFramePr>
          <p:nvPr/>
        </p:nvGraphicFramePr>
        <p:xfrm>
          <a:off x="331326" y="1536210"/>
          <a:ext cx="17625347" cy="8431533"/>
        </p:xfrm>
        <a:graphic>
          <a:graphicData uri="http://schemas.openxmlformats.org/drawingml/2006/table">
            <a:tbl>
              <a:tblPr/>
              <a:tblGrid>
                <a:gridCol w="2097885">
                  <a:extLst>
                    <a:ext uri="{9D8B030D-6E8A-4147-A177-3AD203B41FA5}">
                      <a16:colId xmlns:a16="http://schemas.microsoft.com/office/drawing/2014/main" val="20000"/>
                    </a:ext>
                  </a:extLst>
                </a:gridCol>
                <a:gridCol w="4170175">
                  <a:extLst>
                    <a:ext uri="{9D8B030D-6E8A-4147-A177-3AD203B41FA5}">
                      <a16:colId xmlns:a16="http://schemas.microsoft.com/office/drawing/2014/main" val="20001"/>
                    </a:ext>
                  </a:extLst>
                </a:gridCol>
                <a:gridCol w="3700673">
                  <a:extLst>
                    <a:ext uri="{9D8B030D-6E8A-4147-A177-3AD203B41FA5}">
                      <a16:colId xmlns:a16="http://schemas.microsoft.com/office/drawing/2014/main" val="20002"/>
                    </a:ext>
                  </a:extLst>
                </a:gridCol>
                <a:gridCol w="4210718">
                  <a:extLst>
                    <a:ext uri="{9D8B030D-6E8A-4147-A177-3AD203B41FA5}">
                      <a16:colId xmlns:a16="http://schemas.microsoft.com/office/drawing/2014/main" val="20003"/>
                    </a:ext>
                  </a:extLst>
                </a:gridCol>
                <a:gridCol w="3445896">
                  <a:extLst>
                    <a:ext uri="{9D8B030D-6E8A-4147-A177-3AD203B41FA5}">
                      <a16:colId xmlns:a16="http://schemas.microsoft.com/office/drawing/2014/main" val="20004"/>
                    </a:ext>
                  </a:extLst>
                </a:gridCol>
              </a:tblGrid>
              <a:tr h="1159673">
                <a:tc>
                  <a:txBody>
                    <a:bodyPr/>
                    <a:lstStyle/>
                    <a:p>
                      <a:pPr algn="ctr">
                        <a:lnSpc>
                          <a:spcPts val="2730"/>
                        </a:lnSpc>
                        <a:defRPr/>
                      </a:pPr>
                      <a:r>
                        <a:rPr lang="en-US" sz="1950" b="1">
                          <a:solidFill>
                            <a:srgbClr val="FFFFFF"/>
                          </a:solidFill>
                          <a:latin typeface="Raleway Bold"/>
                          <a:ea typeface="Raleway Bold"/>
                          <a:cs typeface="Raleway Bold"/>
                          <a:sym typeface="Raleway Bold"/>
                        </a:rPr>
                        <a:t>Sr. no.</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b="1">
                          <a:solidFill>
                            <a:srgbClr val="FFFFFF"/>
                          </a:solidFill>
                          <a:latin typeface="Raleway Bold"/>
                          <a:ea typeface="Raleway Bold"/>
                          <a:cs typeface="Raleway Bold"/>
                          <a:sym typeface="Raleway Bold"/>
                        </a:rPr>
                        <a:t>Title, Author, Year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FFFFFF"/>
                          </a:solidFill>
                          <a:latin typeface="Raleway Bold"/>
                          <a:ea typeface="Raleway Bold"/>
                          <a:cs typeface="Raleway Bold"/>
                          <a:sym typeface="Raleway Bold"/>
                        </a:rPr>
                        <a:t>Key Ideas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FFFFFF"/>
                          </a:solidFill>
                          <a:latin typeface="Raleway Bold"/>
                          <a:ea typeface="Raleway Bold"/>
                          <a:cs typeface="Raleway Bold"/>
                          <a:sym typeface="Raleway Bold"/>
                        </a:rPr>
                        <a:t>Advantages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b="1">
                          <a:solidFill>
                            <a:srgbClr val="FFFFFF"/>
                          </a:solidFill>
                          <a:latin typeface="Raleway Bold"/>
                          <a:ea typeface="Raleway Bold"/>
                          <a:cs typeface="Raleway Bold"/>
                          <a:sym typeface="Raleway Bold"/>
                        </a:rPr>
                        <a:t>Limitations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224496">
                <a:tc>
                  <a:txBody>
                    <a:bodyPr/>
                    <a:lstStyle/>
                    <a:p>
                      <a:pPr algn="ctr">
                        <a:lnSpc>
                          <a:spcPts val="2730"/>
                        </a:lnSpc>
                        <a:defRPr/>
                      </a:pPr>
                      <a:r>
                        <a:rPr lang="en-US" sz="1950">
                          <a:solidFill>
                            <a:srgbClr val="FFFFFF"/>
                          </a:solidFill>
                          <a:latin typeface="Raleway"/>
                          <a:ea typeface="Raleway"/>
                          <a:cs typeface="Raleway"/>
                          <a:sym typeface="Raleway"/>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Cyberbullying Detection of Resource-Constrained Language from Social Media using Transformer-Based Approach</a:t>
                      </a:r>
                      <a:endParaRPr lang="en-US" sz="1100"/>
                    </a:p>
                    <a:p>
                      <a:pPr algn="ctr">
                        <a:lnSpc>
                          <a:spcPts val="2730"/>
                        </a:lnSpc>
                      </a:pPr>
                      <a:r>
                        <a:rPr lang="en-US" sz="1950">
                          <a:solidFill>
                            <a:srgbClr val="FFFFFF"/>
                          </a:solidFill>
                          <a:latin typeface="Raleway"/>
                          <a:ea typeface="Raleway"/>
                          <a:cs typeface="Raleway"/>
                          <a:sym typeface="Raleway"/>
                        </a:rPr>
                        <a:t> Sihab-Us-Sakib et al., 2024</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Developed a transformer-based approach (XLM-RoBERTa) for Bengali cyberbullying detection. Compared ML (SVM, NB, RF) and deep models (CNN, LSTM, BiLSTM, GRU) with multilingual transformers.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XLM-RoBERTa achieved highest F1 = 0.83, Accuracy = 82.61%. Handles sarcasm and context better. Suitable for low-resource languages.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Limited to Bengali. Small dataset (2751 comments). Offline-only. No real-time testing or deployment.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4047364">
                <a:tc>
                  <a:txBody>
                    <a:bodyPr/>
                    <a:lstStyle/>
                    <a:p>
                      <a:pPr algn="ctr">
                        <a:lnSpc>
                          <a:spcPts val="2730"/>
                        </a:lnSpc>
                        <a:defRPr/>
                      </a:pPr>
                      <a:r>
                        <a:rPr lang="en-US" sz="1950">
                          <a:solidFill>
                            <a:srgbClr val="FFFFFF"/>
                          </a:solidFill>
                          <a:latin typeface="Raleway"/>
                          <a:ea typeface="Raleway"/>
                          <a:cs typeface="Raleway"/>
                          <a:sym typeface="Raleway"/>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BullStop: A Mobile App for Cyberbullying Prevention</a:t>
                      </a:r>
                      <a:endParaRPr lang="en-US" sz="1100"/>
                    </a:p>
                    <a:p>
                      <a:pPr algn="ctr">
                        <a:lnSpc>
                          <a:spcPts val="2730"/>
                        </a:lnSpc>
                      </a:pPr>
                      <a:r>
                        <a:rPr lang="en-US" sz="1950">
                          <a:solidFill>
                            <a:srgbClr val="FFFFFF"/>
                          </a:solidFill>
                          <a:latin typeface="Raleway"/>
                          <a:ea typeface="Raleway"/>
                          <a:cs typeface="Raleway"/>
                          <a:sym typeface="Raleway"/>
                        </a:rPr>
                        <a:t>Semiu Salawu, Yulan He &amp; Jo Lumsden, 2020</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90"/>
                        </a:lnSpc>
                        <a:defRPr/>
                      </a:pPr>
                      <a:r>
                        <a:rPr lang="en-US" sz="1850">
                          <a:solidFill>
                            <a:srgbClr val="FFFFFF"/>
                          </a:solidFill>
                          <a:latin typeface="Raleway"/>
                          <a:ea typeface="Raleway"/>
                          <a:cs typeface="Raleway"/>
                          <a:sym typeface="Raleway"/>
                        </a:rPr>
                        <a:t> mobile app integrating deep learning models (BERT, RoBERTa, XLNet, DistilBERT) for real-time cyberbullying detection. Designed with a microservices architecture allowing model scalability and plug-and-play classifiers. Implemented online retraining using user feedback.</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First real-world deployable mobile app for cyberbullying prevention. Integrated with Twitter API, enabling real-time detection, deletion, and blocking. Freely available on Google Play.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Restricted to English Twitter data. Accuracy moderate (≈58%, macro-F1=0.54). Limited multilingual and cross-platform applicability.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Box 6"/>
          <p:cNvSpPr txBox="1"/>
          <p:nvPr/>
        </p:nvSpPr>
        <p:spPr>
          <a:xfrm>
            <a:off x="10283150" y="353736"/>
            <a:ext cx="6436672" cy="938809"/>
          </a:xfrm>
          <a:prstGeom prst="rect">
            <a:avLst/>
          </a:prstGeom>
        </p:spPr>
        <p:txBody>
          <a:bodyPr lIns="0" tIns="0" rIns="0" bIns="0" rtlCol="0" anchor="t">
            <a:spAutoFit/>
          </a:bodyPr>
          <a:lstStyle/>
          <a:p>
            <a:pPr algn="l">
              <a:lnSpc>
                <a:spcPts val="7133"/>
              </a:lnSpc>
              <a:spcBef>
                <a:spcPct val="0"/>
              </a:spcBef>
            </a:pPr>
            <a:r>
              <a:rPr lang="en-US" sz="6729" b="1">
                <a:solidFill>
                  <a:srgbClr val="FFFFFF"/>
                </a:solidFill>
                <a:latin typeface="TT Lakes Neue Bold"/>
                <a:ea typeface="TT Lakes Neue Bold"/>
                <a:cs typeface="TT Lakes Neue Bold"/>
                <a:sym typeface="TT Lakes Neue Bold"/>
              </a:rPr>
              <a:t>SURVEY</a:t>
            </a:r>
          </a:p>
        </p:txBody>
      </p:sp>
      <p:sp>
        <p:nvSpPr>
          <p:cNvPr id="7" name="TextBox 7"/>
          <p:cNvSpPr txBox="1"/>
          <p:nvPr/>
        </p:nvSpPr>
        <p:spPr>
          <a:xfrm>
            <a:off x="4284142" y="367730"/>
            <a:ext cx="7435280" cy="938819"/>
          </a:xfrm>
          <a:prstGeom prst="rect">
            <a:avLst/>
          </a:prstGeom>
        </p:spPr>
        <p:txBody>
          <a:bodyPr lIns="0" tIns="0" rIns="0" bIns="0" rtlCol="0" anchor="t">
            <a:spAutoFit/>
          </a:bodyPr>
          <a:lstStyle/>
          <a:p>
            <a:pPr algn="l">
              <a:lnSpc>
                <a:spcPts val="7134"/>
              </a:lnSpc>
              <a:spcBef>
                <a:spcPct val="0"/>
              </a:spcBef>
            </a:pPr>
            <a:r>
              <a:rPr lang="en-US" sz="6730" b="1">
                <a:solidFill>
                  <a:srgbClr val="84E3F8"/>
                </a:solidFill>
                <a:latin typeface="TT Lakes Neue Bold"/>
                <a:ea typeface="TT Lakes Neue Bold"/>
                <a:cs typeface="TT Lakes Neue Bold"/>
                <a:sym typeface="TT Lakes Neue Bold"/>
              </a:rPr>
              <a:t>LITERATURE</a:t>
            </a:r>
          </a:p>
        </p:txBody>
      </p:sp>
      <p:sp>
        <p:nvSpPr>
          <p:cNvPr id="8" name="TextBox 8"/>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graphicFrame>
        <p:nvGraphicFramePr>
          <p:cNvPr id="5" name="Table 5"/>
          <p:cNvGraphicFramePr>
            <a:graphicFrameLocks noGrp="1"/>
          </p:cNvGraphicFramePr>
          <p:nvPr/>
        </p:nvGraphicFramePr>
        <p:xfrm>
          <a:off x="331326" y="1477410"/>
          <a:ext cx="17625347" cy="8644899"/>
        </p:xfrm>
        <a:graphic>
          <a:graphicData uri="http://schemas.openxmlformats.org/drawingml/2006/table">
            <a:tbl>
              <a:tblPr/>
              <a:tblGrid>
                <a:gridCol w="2097885">
                  <a:extLst>
                    <a:ext uri="{9D8B030D-6E8A-4147-A177-3AD203B41FA5}">
                      <a16:colId xmlns:a16="http://schemas.microsoft.com/office/drawing/2014/main" val="20000"/>
                    </a:ext>
                  </a:extLst>
                </a:gridCol>
                <a:gridCol w="4170175">
                  <a:extLst>
                    <a:ext uri="{9D8B030D-6E8A-4147-A177-3AD203B41FA5}">
                      <a16:colId xmlns:a16="http://schemas.microsoft.com/office/drawing/2014/main" val="20001"/>
                    </a:ext>
                  </a:extLst>
                </a:gridCol>
                <a:gridCol w="3700673">
                  <a:extLst>
                    <a:ext uri="{9D8B030D-6E8A-4147-A177-3AD203B41FA5}">
                      <a16:colId xmlns:a16="http://schemas.microsoft.com/office/drawing/2014/main" val="20002"/>
                    </a:ext>
                  </a:extLst>
                </a:gridCol>
                <a:gridCol w="4210718">
                  <a:extLst>
                    <a:ext uri="{9D8B030D-6E8A-4147-A177-3AD203B41FA5}">
                      <a16:colId xmlns:a16="http://schemas.microsoft.com/office/drawing/2014/main" val="20003"/>
                    </a:ext>
                  </a:extLst>
                </a:gridCol>
                <a:gridCol w="3445896">
                  <a:extLst>
                    <a:ext uri="{9D8B030D-6E8A-4147-A177-3AD203B41FA5}">
                      <a16:colId xmlns:a16="http://schemas.microsoft.com/office/drawing/2014/main" val="20004"/>
                    </a:ext>
                  </a:extLst>
                </a:gridCol>
              </a:tblGrid>
              <a:tr h="815125">
                <a:tc>
                  <a:txBody>
                    <a:bodyPr/>
                    <a:lstStyle/>
                    <a:p>
                      <a:pPr algn="ctr">
                        <a:lnSpc>
                          <a:spcPts val="2730"/>
                        </a:lnSpc>
                        <a:defRPr/>
                      </a:pPr>
                      <a:r>
                        <a:rPr lang="en-US" sz="1950" b="1">
                          <a:solidFill>
                            <a:srgbClr val="FFFFFF"/>
                          </a:solidFill>
                          <a:latin typeface="Raleway Bold"/>
                          <a:ea typeface="Raleway Bold"/>
                          <a:cs typeface="Raleway Bold"/>
                          <a:sym typeface="Raleway Bold"/>
                        </a:rPr>
                        <a:t>Sr. no.</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b="1">
                          <a:solidFill>
                            <a:srgbClr val="FFFFFF"/>
                          </a:solidFill>
                          <a:latin typeface="Raleway Bold"/>
                          <a:ea typeface="Raleway Bold"/>
                          <a:cs typeface="Raleway Bold"/>
                          <a:sym typeface="Raleway Bold"/>
                        </a:rPr>
                        <a:t>Title, Author, Year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FFFFFF"/>
                          </a:solidFill>
                          <a:latin typeface="Raleway Bold"/>
                          <a:ea typeface="Raleway Bold"/>
                          <a:cs typeface="Raleway Bold"/>
                          <a:sym typeface="Raleway Bold"/>
                        </a:rPr>
                        <a:t>Key Ideas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r>
                        <a:rPr lang="en-US" sz="1899" b="1">
                          <a:solidFill>
                            <a:srgbClr val="FFFFFF"/>
                          </a:solidFill>
                          <a:latin typeface="Raleway Bold"/>
                          <a:ea typeface="Raleway Bold"/>
                          <a:cs typeface="Raleway Bold"/>
                          <a:sym typeface="Raleway Bold"/>
                        </a:rPr>
                        <a:t>Advantages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b="1">
                          <a:solidFill>
                            <a:srgbClr val="FFFFFF"/>
                          </a:solidFill>
                          <a:latin typeface="Raleway Bold"/>
                          <a:ea typeface="Raleway Bold"/>
                          <a:cs typeface="Raleway Bold"/>
                          <a:sym typeface="Raleway Bold"/>
                        </a:rPr>
                        <a:t>Limitations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3226051">
                <a:tc>
                  <a:txBody>
                    <a:bodyPr/>
                    <a:lstStyle/>
                    <a:p>
                      <a:pPr algn="ctr">
                        <a:lnSpc>
                          <a:spcPts val="2730"/>
                        </a:lnSpc>
                        <a:defRPr/>
                      </a:pPr>
                      <a:r>
                        <a:rPr lang="en-US" sz="1950">
                          <a:solidFill>
                            <a:srgbClr val="FFFFFF"/>
                          </a:solidFill>
                          <a:latin typeface="Raleway"/>
                          <a:ea typeface="Raleway"/>
                          <a:cs typeface="Raleway"/>
                          <a:sym typeface="Raleway"/>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Intelligent Multi-Lingual Cyber-Hate Detection in Online Social Networks: Taxonomy, Approaches, Datasets, and Open Challenges</a:t>
                      </a:r>
                      <a:endParaRPr lang="en-US" sz="1100"/>
                    </a:p>
                    <a:p>
                      <a:pPr algn="ctr">
                        <a:lnSpc>
                          <a:spcPts val="2730"/>
                        </a:lnSpc>
                      </a:pPr>
                      <a:r>
                        <a:rPr lang="en-US" sz="1950">
                          <a:solidFill>
                            <a:srgbClr val="FFFFFF"/>
                          </a:solidFill>
                          <a:latin typeface="Raleway"/>
                          <a:ea typeface="Raleway"/>
                          <a:cs typeface="Raleway"/>
                          <a:sym typeface="Raleway"/>
                        </a:rPr>
                        <a:t> Donia Gamal et al., 2023</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Comprehensive survey of multilingual hate detection techniques and datasets across 25+ languages. Discussed ML, DL, lexicon-based, and hybrid models. Proposed taxonomy for 10 hate types.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Identified global datasets, transformer applications (BERT, XLM-R), and multilingual challenges. Gave overview of latest approaches.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Purely theoretical. No implementation or evaluation. Lacked deployment or real-time model validation.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4603723">
                <a:tc>
                  <a:txBody>
                    <a:bodyPr/>
                    <a:lstStyle/>
                    <a:p>
                      <a:pPr algn="ctr">
                        <a:lnSpc>
                          <a:spcPts val="2730"/>
                        </a:lnSpc>
                        <a:defRPr/>
                      </a:pPr>
                      <a:r>
                        <a:rPr lang="en-US" sz="1950">
                          <a:solidFill>
                            <a:srgbClr val="FFFFFF"/>
                          </a:solidFill>
                          <a:latin typeface="Raleway"/>
                          <a:ea typeface="Raleway"/>
                          <a:cs typeface="Raleway"/>
                          <a:sym typeface="Raleway"/>
                        </a:rPr>
                        <a:t>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Advancing Cyberbullying Detection: A Hybrid Machine Learning and Deep Learning Framework for Social Media Analysis</a:t>
                      </a:r>
                      <a:endParaRPr lang="en-US" sz="1100"/>
                    </a:p>
                    <a:p>
                      <a:pPr algn="ctr">
                        <a:lnSpc>
                          <a:spcPts val="2730"/>
                        </a:lnSpc>
                      </a:pPr>
                      <a:r>
                        <a:rPr lang="en-US" sz="1950">
                          <a:solidFill>
                            <a:srgbClr val="FFFFFF"/>
                          </a:solidFill>
                          <a:latin typeface="Raleway"/>
                          <a:ea typeface="Raleway"/>
                          <a:cs typeface="Raleway"/>
                          <a:sym typeface="Raleway"/>
                        </a:rPr>
                        <a:t> Bishal Shyam Purkayastha et al., 2025</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Designed a hybrid framework combining ML (Random Forest, XGBoost, AdaBoost) and DL (BiLSTM, BiGRU, BERT) for cyberbullying detection. Used two datasets (Mandalay and Kaggle). Employed preprocessing, random oversampling, and XAI for interpretability.</a:t>
                      </a:r>
                      <a:endParaRPr lang="en-US" sz="1100"/>
                    </a:p>
                    <a:p>
                      <a:pPr algn="ctr">
                        <a:lnSpc>
                          <a:spcPts val="273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Achieved 91.36% accuracy and 91.24% F1-score with BERT model. Balanced dataset and interpretability using SHAP/LIME. Demonstrated hybrid ML-DL performance.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30"/>
                        </a:lnSpc>
                        <a:defRPr/>
                      </a:pPr>
                      <a:r>
                        <a:rPr lang="en-US" sz="1950">
                          <a:solidFill>
                            <a:srgbClr val="FFFFFF"/>
                          </a:solidFill>
                          <a:latin typeface="Raleway"/>
                          <a:ea typeface="Raleway"/>
                          <a:cs typeface="Raleway"/>
                          <a:sym typeface="Raleway"/>
                        </a:rPr>
                        <a:t>Focused on English-only datasets. Offline, no real-time or multilingual capabilities. Computationally heavy due to hybrid design. No deployment in live environments.</a:t>
                      </a:r>
                      <a:endParaRPr lang="en-US" sz="1100"/>
                    </a:p>
                    <a:p>
                      <a:pPr algn="ctr">
                        <a:lnSpc>
                          <a:spcPts val="2730"/>
                        </a:lnSpc>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Box 6"/>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974120" y="2407467"/>
            <a:ext cx="6342325" cy="6227010"/>
          </a:xfrm>
          <a:custGeom>
            <a:avLst/>
            <a:gdLst/>
            <a:ahLst/>
            <a:cxnLst/>
            <a:rect l="l" t="t" r="r" b="b"/>
            <a:pathLst>
              <a:path w="6342325" h="6227010">
                <a:moveTo>
                  <a:pt x="0" y="0"/>
                </a:moveTo>
                <a:lnTo>
                  <a:pt x="6342326" y="0"/>
                </a:lnTo>
                <a:lnTo>
                  <a:pt x="6342326" y="6227010"/>
                </a:lnTo>
                <a:lnTo>
                  <a:pt x="0" y="6227010"/>
                </a:lnTo>
                <a:lnTo>
                  <a:pt x="0" y="0"/>
                </a:lnTo>
                <a:close/>
              </a:path>
            </a:pathLst>
          </a:custGeom>
          <a:blipFill>
            <a:blip>
              <a:alphaModFix amt="68000"/>
              <a:extLst>
                <a:ext uri="{96DAC541-7B7A-43D3-8B79-37D633B846F1}">
                  <asvg:svgBlip xmlns:asvg="http://schemas.microsoft.com/office/drawing/2016/SVG/main" r:embed="rId2"/>
                </a:ext>
              </a:extLst>
            </a:blip>
            <a:stretch>
              <a:fillRect/>
            </a:stretch>
          </a:blipFill>
        </p:spPr>
      </p:sp>
      <p:grpSp>
        <p:nvGrpSpPr>
          <p:cNvPr id="3" name="Group 3"/>
          <p:cNvGrpSpPr>
            <a:grpSpLocks noChangeAspect="1"/>
          </p:cNvGrpSpPr>
          <p:nvPr/>
        </p:nvGrpSpPr>
        <p:grpSpPr>
          <a:xfrm>
            <a:off x="11080914" y="3336449"/>
            <a:ext cx="4356595" cy="4356595"/>
            <a:chOff x="0" y="0"/>
            <a:chExt cx="14840029" cy="14840029"/>
          </a:xfrm>
        </p:grpSpPr>
        <p:sp>
          <p:nvSpPr>
            <p:cNvPr id="4" name="Freeform 4"/>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5" name="Freeform 5"/>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6" name="Freeform 6"/>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32961" r="-32961"/>
              </a:stretch>
            </a:blipFill>
          </p:spPr>
        </p:sp>
      </p:grpSp>
      <p:grpSp>
        <p:nvGrpSpPr>
          <p:cNvPr id="7" name="Group 7"/>
          <p:cNvGrpSpPr/>
          <p:nvPr/>
        </p:nvGrpSpPr>
        <p:grpSpPr>
          <a:xfrm>
            <a:off x="2022165" y="5792252"/>
            <a:ext cx="5123442" cy="1442299"/>
            <a:chOff x="0" y="0"/>
            <a:chExt cx="1349384" cy="379865"/>
          </a:xfrm>
        </p:grpSpPr>
        <p:sp>
          <p:nvSpPr>
            <p:cNvPr id="8" name="Freeform 8"/>
            <p:cNvSpPr/>
            <p:nvPr/>
          </p:nvSpPr>
          <p:spPr>
            <a:xfrm>
              <a:off x="0" y="0"/>
              <a:ext cx="1349384" cy="379865"/>
            </a:xfrm>
            <a:custGeom>
              <a:avLst/>
              <a:gdLst/>
              <a:ahLst/>
              <a:cxnLst/>
              <a:rect l="l" t="t" r="r" b="b"/>
              <a:pathLst>
                <a:path w="1349384" h="379865">
                  <a:moveTo>
                    <a:pt x="1146184" y="0"/>
                  </a:moveTo>
                  <a:cubicBezTo>
                    <a:pt x="1258408" y="0"/>
                    <a:pt x="1349384" y="85036"/>
                    <a:pt x="1349384" y="189932"/>
                  </a:cubicBezTo>
                  <a:cubicBezTo>
                    <a:pt x="1349384" y="294829"/>
                    <a:pt x="1258408" y="379865"/>
                    <a:pt x="1146184" y="379865"/>
                  </a:cubicBezTo>
                  <a:lnTo>
                    <a:pt x="203200" y="379865"/>
                  </a:lnTo>
                  <a:cubicBezTo>
                    <a:pt x="90976" y="379865"/>
                    <a:pt x="0" y="294829"/>
                    <a:pt x="0" y="189932"/>
                  </a:cubicBezTo>
                  <a:cubicBezTo>
                    <a:pt x="0" y="85036"/>
                    <a:pt x="90976" y="0"/>
                    <a:pt x="203200" y="0"/>
                  </a:cubicBezTo>
                  <a:close/>
                </a:path>
              </a:pathLst>
            </a:custGeom>
            <a:solidFill>
              <a:srgbClr val="D9D9D9"/>
            </a:solidFill>
            <a:ln w="28575" cap="sq">
              <a:solidFill>
                <a:srgbClr val="000000"/>
              </a:solidFill>
              <a:prstDash val="solid"/>
              <a:miter/>
            </a:ln>
          </p:spPr>
        </p:sp>
        <p:sp>
          <p:nvSpPr>
            <p:cNvPr id="9" name="TextBox 9"/>
            <p:cNvSpPr txBox="1"/>
            <p:nvPr/>
          </p:nvSpPr>
          <p:spPr>
            <a:xfrm>
              <a:off x="0" y="28575"/>
              <a:ext cx="1349384" cy="351290"/>
            </a:xfrm>
            <a:prstGeom prst="rect">
              <a:avLst/>
            </a:prstGeom>
          </p:spPr>
          <p:txBody>
            <a:bodyPr lIns="50800" tIns="50800" rIns="50800" bIns="50800" rtlCol="0" anchor="ctr"/>
            <a:lstStyle/>
            <a:p>
              <a:pPr algn="ctr">
                <a:lnSpc>
                  <a:spcPts val="2067"/>
                </a:lnSpc>
              </a:pPr>
              <a:r>
                <a:rPr lang="en-US" sz="1950">
                  <a:solidFill>
                    <a:srgbClr val="000000"/>
                  </a:solidFill>
                  <a:latin typeface="TT Lakes Neue"/>
                  <a:ea typeface="TT Lakes Neue"/>
                  <a:cs typeface="TT Lakes Neue"/>
                  <a:sym typeface="TT Lakes Neue"/>
                </a:rPr>
                <a:t>TRANSFORMER-BASED BENGALI CYBERBULLYING DETECTOR </a:t>
              </a:r>
            </a:p>
          </p:txBody>
        </p:sp>
      </p:grpSp>
      <p:grpSp>
        <p:nvGrpSpPr>
          <p:cNvPr id="10" name="Group 10"/>
          <p:cNvGrpSpPr/>
          <p:nvPr/>
        </p:nvGrpSpPr>
        <p:grpSpPr>
          <a:xfrm>
            <a:off x="3697485" y="4172785"/>
            <a:ext cx="5123442" cy="1338681"/>
            <a:chOff x="0" y="0"/>
            <a:chExt cx="1349384" cy="352574"/>
          </a:xfrm>
        </p:grpSpPr>
        <p:sp>
          <p:nvSpPr>
            <p:cNvPr id="11" name="Freeform 11"/>
            <p:cNvSpPr/>
            <p:nvPr/>
          </p:nvSpPr>
          <p:spPr>
            <a:xfrm>
              <a:off x="0" y="0"/>
              <a:ext cx="1349384" cy="352574"/>
            </a:xfrm>
            <a:custGeom>
              <a:avLst/>
              <a:gdLst/>
              <a:ahLst/>
              <a:cxnLst/>
              <a:rect l="l" t="t" r="r" b="b"/>
              <a:pathLst>
                <a:path w="1349384" h="352574">
                  <a:moveTo>
                    <a:pt x="1146184" y="0"/>
                  </a:moveTo>
                  <a:cubicBezTo>
                    <a:pt x="1258408" y="0"/>
                    <a:pt x="1349384" y="78926"/>
                    <a:pt x="1349384" y="176287"/>
                  </a:cubicBezTo>
                  <a:cubicBezTo>
                    <a:pt x="1349384" y="273648"/>
                    <a:pt x="1258408" y="352574"/>
                    <a:pt x="1146184" y="352574"/>
                  </a:cubicBezTo>
                  <a:lnTo>
                    <a:pt x="203200" y="352574"/>
                  </a:lnTo>
                  <a:cubicBezTo>
                    <a:pt x="90976" y="352574"/>
                    <a:pt x="0" y="273648"/>
                    <a:pt x="0" y="176287"/>
                  </a:cubicBezTo>
                  <a:cubicBezTo>
                    <a:pt x="0" y="78926"/>
                    <a:pt x="90976" y="0"/>
                    <a:pt x="203200" y="0"/>
                  </a:cubicBezTo>
                  <a:close/>
                </a:path>
              </a:pathLst>
            </a:custGeom>
            <a:solidFill>
              <a:srgbClr val="D9D9D9"/>
            </a:solidFill>
            <a:ln w="28575" cap="sq">
              <a:solidFill>
                <a:srgbClr val="000000"/>
              </a:solidFill>
              <a:prstDash val="solid"/>
              <a:miter/>
            </a:ln>
          </p:spPr>
        </p:sp>
        <p:sp>
          <p:nvSpPr>
            <p:cNvPr id="12" name="TextBox 12"/>
            <p:cNvSpPr txBox="1"/>
            <p:nvPr/>
          </p:nvSpPr>
          <p:spPr>
            <a:xfrm>
              <a:off x="0" y="28575"/>
              <a:ext cx="1349384" cy="323999"/>
            </a:xfrm>
            <a:prstGeom prst="rect">
              <a:avLst/>
            </a:prstGeom>
          </p:spPr>
          <p:txBody>
            <a:bodyPr lIns="50800" tIns="50800" rIns="50800" bIns="50800" rtlCol="0" anchor="ctr"/>
            <a:lstStyle/>
            <a:p>
              <a:pPr algn="ctr">
                <a:lnSpc>
                  <a:spcPts val="2067"/>
                </a:lnSpc>
              </a:pPr>
              <a:r>
                <a:rPr lang="en-US" sz="1950">
                  <a:solidFill>
                    <a:srgbClr val="000000"/>
                  </a:solidFill>
                  <a:latin typeface="TT Lakes Neue"/>
                  <a:ea typeface="TT Lakes Neue"/>
                  <a:cs typeface="TT Lakes Neue"/>
                  <a:sym typeface="TT Lakes Neue"/>
                </a:rPr>
                <a:t>FACEBOOK : DEEP TEXT</a:t>
              </a:r>
            </a:p>
          </p:txBody>
        </p:sp>
      </p:grpSp>
      <p:grpSp>
        <p:nvGrpSpPr>
          <p:cNvPr id="13" name="Group 13"/>
          <p:cNvGrpSpPr/>
          <p:nvPr/>
        </p:nvGrpSpPr>
        <p:grpSpPr>
          <a:xfrm>
            <a:off x="3697485" y="7489322"/>
            <a:ext cx="5123442" cy="1408956"/>
            <a:chOff x="0" y="0"/>
            <a:chExt cx="1349384" cy="371083"/>
          </a:xfrm>
        </p:grpSpPr>
        <p:sp>
          <p:nvSpPr>
            <p:cNvPr id="14" name="Freeform 14"/>
            <p:cNvSpPr/>
            <p:nvPr/>
          </p:nvSpPr>
          <p:spPr>
            <a:xfrm>
              <a:off x="0" y="0"/>
              <a:ext cx="1349384" cy="371083"/>
            </a:xfrm>
            <a:custGeom>
              <a:avLst/>
              <a:gdLst/>
              <a:ahLst/>
              <a:cxnLst/>
              <a:rect l="l" t="t" r="r" b="b"/>
              <a:pathLst>
                <a:path w="1349384" h="371083">
                  <a:moveTo>
                    <a:pt x="1146184" y="0"/>
                  </a:moveTo>
                  <a:cubicBezTo>
                    <a:pt x="1258408" y="0"/>
                    <a:pt x="1349384" y="83070"/>
                    <a:pt x="1349384" y="185541"/>
                  </a:cubicBezTo>
                  <a:cubicBezTo>
                    <a:pt x="1349384" y="288013"/>
                    <a:pt x="1258408" y="371083"/>
                    <a:pt x="1146184" y="371083"/>
                  </a:cubicBezTo>
                  <a:lnTo>
                    <a:pt x="203200" y="371083"/>
                  </a:lnTo>
                  <a:cubicBezTo>
                    <a:pt x="90976" y="371083"/>
                    <a:pt x="0" y="288013"/>
                    <a:pt x="0" y="185541"/>
                  </a:cubicBezTo>
                  <a:cubicBezTo>
                    <a:pt x="0" y="83070"/>
                    <a:pt x="90976" y="0"/>
                    <a:pt x="203200" y="0"/>
                  </a:cubicBezTo>
                  <a:close/>
                </a:path>
              </a:pathLst>
            </a:custGeom>
            <a:solidFill>
              <a:srgbClr val="D9D9D9"/>
            </a:solidFill>
            <a:ln w="28575" cap="sq">
              <a:solidFill>
                <a:srgbClr val="000000"/>
              </a:solidFill>
              <a:prstDash val="solid"/>
              <a:miter/>
            </a:ln>
          </p:spPr>
        </p:sp>
        <p:sp>
          <p:nvSpPr>
            <p:cNvPr id="15" name="TextBox 15"/>
            <p:cNvSpPr txBox="1"/>
            <p:nvPr/>
          </p:nvSpPr>
          <p:spPr>
            <a:xfrm>
              <a:off x="0" y="28575"/>
              <a:ext cx="1349384" cy="342508"/>
            </a:xfrm>
            <a:prstGeom prst="rect">
              <a:avLst/>
            </a:prstGeom>
          </p:spPr>
          <p:txBody>
            <a:bodyPr lIns="50800" tIns="50800" rIns="50800" bIns="50800" rtlCol="0" anchor="ctr"/>
            <a:lstStyle/>
            <a:p>
              <a:pPr algn="ctr">
                <a:lnSpc>
                  <a:spcPts val="2067"/>
                </a:lnSpc>
              </a:pPr>
              <a:r>
                <a:rPr lang="en-US" sz="1950">
                  <a:solidFill>
                    <a:srgbClr val="000000"/>
                  </a:solidFill>
                  <a:latin typeface="TT Lakes Neue"/>
                  <a:ea typeface="TT Lakes Neue"/>
                  <a:cs typeface="TT Lakes Neue"/>
                  <a:sym typeface="TT Lakes Neue"/>
                </a:rPr>
                <a:t>HYBRID ML–DL FRAMEWORK COMBINING MODELS LIKE BERT, BILSTM, AND RANDOM FOREST FOR CYBERBULLYING DETECTION.</a:t>
              </a:r>
            </a:p>
          </p:txBody>
        </p:sp>
      </p:grpSp>
      <p:sp>
        <p:nvSpPr>
          <p:cNvPr id="16" name="Freeform 16"/>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grpSp>
        <p:nvGrpSpPr>
          <p:cNvPr id="17" name="Group 17"/>
          <p:cNvGrpSpPr/>
          <p:nvPr/>
        </p:nvGrpSpPr>
        <p:grpSpPr>
          <a:xfrm>
            <a:off x="2022165" y="2375051"/>
            <a:ext cx="5123442" cy="1442299"/>
            <a:chOff x="0" y="0"/>
            <a:chExt cx="1349384" cy="379865"/>
          </a:xfrm>
        </p:grpSpPr>
        <p:sp>
          <p:nvSpPr>
            <p:cNvPr id="18" name="Freeform 18"/>
            <p:cNvSpPr/>
            <p:nvPr/>
          </p:nvSpPr>
          <p:spPr>
            <a:xfrm>
              <a:off x="0" y="0"/>
              <a:ext cx="1349384" cy="379865"/>
            </a:xfrm>
            <a:custGeom>
              <a:avLst/>
              <a:gdLst/>
              <a:ahLst/>
              <a:cxnLst/>
              <a:rect l="l" t="t" r="r" b="b"/>
              <a:pathLst>
                <a:path w="1349384" h="379865">
                  <a:moveTo>
                    <a:pt x="1146184" y="0"/>
                  </a:moveTo>
                  <a:cubicBezTo>
                    <a:pt x="1258408" y="0"/>
                    <a:pt x="1349384" y="85036"/>
                    <a:pt x="1349384" y="189932"/>
                  </a:cubicBezTo>
                  <a:cubicBezTo>
                    <a:pt x="1349384" y="294829"/>
                    <a:pt x="1258408" y="379865"/>
                    <a:pt x="1146184" y="379865"/>
                  </a:cubicBezTo>
                  <a:lnTo>
                    <a:pt x="203200" y="379865"/>
                  </a:lnTo>
                  <a:cubicBezTo>
                    <a:pt x="90976" y="379865"/>
                    <a:pt x="0" y="294829"/>
                    <a:pt x="0" y="189932"/>
                  </a:cubicBezTo>
                  <a:cubicBezTo>
                    <a:pt x="0" y="85036"/>
                    <a:pt x="90976" y="0"/>
                    <a:pt x="203200" y="0"/>
                  </a:cubicBezTo>
                  <a:close/>
                </a:path>
              </a:pathLst>
            </a:custGeom>
            <a:solidFill>
              <a:srgbClr val="D9D9D9"/>
            </a:solidFill>
            <a:ln w="28575" cap="sq">
              <a:solidFill>
                <a:srgbClr val="081426"/>
              </a:solidFill>
              <a:prstDash val="solid"/>
              <a:miter/>
            </a:ln>
          </p:spPr>
        </p:sp>
        <p:sp>
          <p:nvSpPr>
            <p:cNvPr id="19" name="TextBox 19"/>
            <p:cNvSpPr txBox="1"/>
            <p:nvPr/>
          </p:nvSpPr>
          <p:spPr>
            <a:xfrm>
              <a:off x="0" y="28575"/>
              <a:ext cx="1349384" cy="351290"/>
            </a:xfrm>
            <a:prstGeom prst="rect">
              <a:avLst/>
            </a:prstGeom>
          </p:spPr>
          <p:txBody>
            <a:bodyPr lIns="50800" tIns="50800" rIns="50800" bIns="50800" rtlCol="0" anchor="ctr"/>
            <a:lstStyle/>
            <a:p>
              <a:pPr algn="ctr">
                <a:lnSpc>
                  <a:spcPts val="2067"/>
                </a:lnSpc>
              </a:pPr>
              <a:r>
                <a:rPr lang="en-US" sz="1950">
                  <a:solidFill>
                    <a:srgbClr val="000000"/>
                  </a:solidFill>
                  <a:latin typeface="TT Lakes Neue"/>
                  <a:ea typeface="TT Lakes Neue"/>
                  <a:cs typeface="TT Lakes Neue"/>
                  <a:sym typeface="TT Lakes Neue"/>
                </a:rPr>
                <a:t>BULLSTOP : A MOBILE APP DEVELOPMENT FOR CYBERBULLYING</a:t>
              </a:r>
            </a:p>
          </p:txBody>
        </p:sp>
      </p:grpSp>
      <p:sp>
        <p:nvSpPr>
          <p:cNvPr id="20" name="Freeform 20"/>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21" name="Freeform 21"/>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alphaModFix amt="41000"/>
              <a:extLst>
                <a:ext uri="{96DAC541-7B7A-43D3-8B79-37D633B846F1}">
                  <asvg:svgBlip xmlns:asvg="http://schemas.microsoft.com/office/drawing/2016/SVG/main" r:embed="rId4"/>
                </a:ext>
              </a:extLst>
            </a:blip>
            <a:stretch>
              <a:fillRect/>
            </a:stretch>
          </a:blipFill>
        </p:spPr>
      </p:sp>
      <p:sp>
        <p:nvSpPr>
          <p:cNvPr id="22" name="TextBox 22"/>
          <p:cNvSpPr txBox="1"/>
          <p:nvPr/>
        </p:nvSpPr>
        <p:spPr>
          <a:xfrm>
            <a:off x="1848125" y="948809"/>
            <a:ext cx="12333008" cy="1169067"/>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EXISTING </a:t>
            </a:r>
            <a:r>
              <a:rPr lang="en-US" sz="8430" b="1">
                <a:solidFill>
                  <a:srgbClr val="FFFFFF"/>
                </a:solidFill>
                <a:latin typeface="TT Lakes Neue Bold"/>
                <a:ea typeface="TT Lakes Neue Bold"/>
                <a:cs typeface="TT Lakes Neue Bold"/>
                <a:sym typeface="TT Lakes Neue Bold"/>
              </a:rPr>
              <a:t>SYSTEMS</a:t>
            </a:r>
          </a:p>
        </p:txBody>
      </p:sp>
      <p:sp>
        <p:nvSpPr>
          <p:cNvPr id="23" name="TextBox 23"/>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5423100" y="1143000"/>
            <a:ext cx="7835700" cy="1180323"/>
          </a:xfrm>
          <a:prstGeom prst="rect">
            <a:avLst/>
          </a:prstGeom>
        </p:spPr>
        <p:txBody>
          <a:bodyPr wrap="square" lIns="0" tIns="0" rIns="0" bIns="0" rtlCol="0" anchor="t">
            <a:spAutoFit/>
          </a:bodyPr>
          <a:lstStyle/>
          <a:p>
            <a:pPr algn="ctr">
              <a:lnSpc>
                <a:spcPts val="8936"/>
              </a:lnSpc>
              <a:spcBef>
                <a:spcPct val="0"/>
              </a:spcBef>
            </a:pPr>
            <a:r>
              <a:rPr lang="en-US" sz="8430" b="1" dirty="0">
                <a:solidFill>
                  <a:srgbClr val="84E3F8"/>
                </a:solidFill>
                <a:latin typeface="TT Lakes Neue Bold"/>
                <a:ea typeface="TT Lakes Neue Bold"/>
                <a:cs typeface="TT Lakes Neue Bold"/>
                <a:sym typeface="TT Lakes Neue Bold"/>
              </a:rPr>
              <a:t>OBJECTIVES</a:t>
            </a:r>
          </a:p>
        </p:txBody>
      </p:sp>
      <p:sp>
        <p:nvSpPr>
          <p:cNvPr id="3" name="Freeform 3"/>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200474" y="3074952"/>
            <a:ext cx="18688947" cy="5197517"/>
            <a:chOff x="0" y="0"/>
            <a:chExt cx="4922192" cy="1368893"/>
          </a:xfrm>
        </p:grpSpPr>
        <p:sp>
          <p:nvSpPr>
            <p:cNvPr id="6" name="Freeform 6"/>
            <p:cNvSpPr/>
            <p:nvPr/>
          </p:nvSpPr>
          <p:spPr>
            <a:xfrm>
              <a:off x="0" y="0"/>
              <a:ext cx="4922192" cy="1368893"/>
            </a:xfrm>
            <a:custGeom>
              <a:avLst/>
              <a:gdLst/>
              <a:ahLst/>
              <a:cxnLst/>
              <a:rect l="l" t="t" r="r" b="b"/>
              <a:pathLst>
                <a:path w="4922192" h="1368893">
                  <a:moveTo>
                    <a:pt x="0" y="0"/>
                  </a:moveTo>
                  <a:lnTo>
                    <a:pt x="4922192" y="0"/>
                  </a:lnTo>
                  <a:lnTo>
                    <a:pt x="4922192" y="1368893"/>
                  </a:lnTo>
                  <a:lnTo>
                    <a:pt x="0" y="1368893"/>
                  </a:lnTo>
                  <a:close/>
                </a:path>
              </a:pathLst>
            </a:custGeom>
            <a:gradFill rotWithShape="1">
              <a:gsLst>
                <a:gs pos="0">
                  <a:srgbClr val="131F40">
                    <a:alpha val="75000"/>
                  </a:srgbClr>
                </a:gs>
                <a:gs pos="100000">
                  <a:srgbClr val="3D6D81">
                    <a:alpha val="75000"/>
                  </a:srgbClr>
                </a:gs>
              </a:gsLst>
              <a:lin ang="0"/>
            </a:gradFill>
          </p:spPr>
        </p:sp>
        <p:sp>
          <p:nvSpPr>
            <p:cNvPr id="7" name="TextBox 7"/>
            <p:cNvSpPr txBox="1"/>
            <p:nvPr/>
          </p:nvSpPr>
          <p:spPr>
            <a:xfrm>
              <a:off x="0" y="28575"/>
              <a:ext cx="4922192" cy="1340318"/>
            </a:xfrm>
            <a:prstGeom prst="rect">
              <a:avLst/>
            </a:prstGeom>
          </p:spPr>
          <p:txBody>
            <a:bodyPr lIns="50800" tIns="50800" rIns="50800" bIns="50800" rtlCol="0" anchor="ctr"/>
            <a:lstStyle/>
            <a:p>
              <a:pPr algn="ctr">
                <a:lnSpc>
                  <a:spcPts val="2181"/>
                </a:lnSpc>
              </a:pPr>
              <a:endParaRPr/>
            </a:p>
          </p:txBody>
        </p:sp>
      </p:grpSp>
      <p:sp>
        <p:nvSpPr>
          <p:cNvPr id="8" name="TextBox 8"/>
          <p:cNvSpPr txBox="1"/>
          <p:nvPr/>
        </p:nvSpPr>
        <p:spPr>
          <a:xfrm>
            <a:off x="4295369" y="3518820"/>
            <a:ext cx="10544891" cy="4328831"/>
          </a:xfrm>
          <a:prstGeom prst="rect">
            <a:avLst/>
          </a:prstGeom>
        </p:spPr>
        <p:txBody>
          <a:bodyPr lIns="0" tIns="0" rIns="0" bIns="0" rtlCol="0" anchor="t">
            <a:spAutoFit/>
          </a:bodyPr>
          <a:lstStyle/>
          <a:p>
            <a:pPr marL="632717" lvl="1" indent="-316359" algn="just">
              <a:lnSpc>
                <a:spcPts val="3106"/>
              </a:lnSpc>
              <a:buFont typeface="Arial"/>
              <a:buChar char="•"/>
            </a:pPr>
            <a:r>
              <a:rPr lang="en-US" sz="2930" b="1">
                <a:solidFill>
                  <a:srgbClr val="FFFFFF"/>
                </a:solidFill>
                <a:latin typeface="Raleway Bold"/>
                <a:ea typeface="Raleway Bold"/>
                <a:cs typeface="Raleway Bold"/>
                <a:sym typeface="Raleway Bold"/>
              </a:rPr>
              <a:t>Detect and classify toxic content in real-time.</a:t>
            </a:r>
          </a:p>
          <a:p>
            <a:pPr algn="just">
              <a:lnSpc>
                <a:spcPts val="3106"/>
              </a:lnSpc>
            </a:pPr>
            <a:endParaRPr lang="en-US" sz="2930" b="1">
              <a:solidFill>
                <a:srgbClr val="FFFFFF"/>
              </a:solidFill>
              <a:latin typeface="Raleway Bold"/>
              <a:ea typeface="Raleway Bold"/>
              <a:cs typeface="Raleway Bold"/>
              <a:sym typeface="Raleway Bold"/>
            </a:endParaRPr>
          </a:p>
          <a:p>
            <a:pPr marL="632717" lvl="1" indent="-316359" algn="just">
              <a:lnSpc>
                <a:spcPts val="3106"/>
              </a:lnSpc>
              <a:buFont typeface="Arial"/>
              <a:buChar char="•"/>
            </a:pPr>
            <a:r>
              <a:rPr lang="en-US" sz="2930" b="1">
                <a:solidFill>
                  <a:srgbClr val="FFFFFF"/>
                </a:solidFill>
                <a:latin typeface="Raleway Bold"/>
                <a:ea typeface="Raleway Bold"/>
                <a:cs typeface="Raleway Bold"/>
                <a:sym typeface="Raleway Bold"/>
              </a:rPr>
              <a:t>Support multiple languages with contextual accuracy.</a:t>
            </a:r>
          </a:p>
          <a:p>
            <a:pPr algn="just">
              <a:lnSpc>
                <a:spcPts val="3106"/>
              </a:lnSpc>
            </a:pPr>
            <a:endParaRPr lang="en-US" sz="2930" b="1">
              <a:solidFill>
                <a:srgbClr val="FFFFFF"/>
              </a:solidFill>
              <a:latin typeface="Raleway Bold"/>
              <a:ea typeface="Raleway Bold"/>
              <a:cs typeface="Raleway Bold"/>
              <a:sym typeface="Raleway Bold"/>
            </a:endParaRPr>
          </a:p>
          <a:p>
            <a:pPr marL="632717" lvl="1" indent="-316359" algn="just">
              <a:lnSpc>
                <a:spcPts val="3106"/>
              </a:lnSpc>
              <a:buFont typeface="Arial"/>
              <a:buChar char="•"/>
            </a:pPr>
            <a:r>
              <a:rPr lang="en-US" sz="2930" b="1">
                <a:solidFill>
                  <a:srgbClr val="FFFFFF"/>
                </a:solidFill>
                <a:latin typeface="Raleway Bold"/>
                <a:ea typeface="Raleway Bold"/>
                <a:cs typeface="Raleway Bold"/>
                <a:sym typeface="Raleway Bold"/>
              </a:rPr>
              <a:t>Alert users before harmful exposure.</a:t>
            </a:r>
          </a:p>
          <a:p>
            <a:pPr algn="just">
              <a:lnSpc>
                <a:spcPts val="3106"/>
              </a:lnSpc>
            </a:pPr>
            <a:endParaRPr lang="en-US" sz="2930" b="1">
              <a:solidFill>
                <a:srgbClr val="FFFFFF"/>
              </a:solidFill>
              <a:latin typeface="Raleway Bold"/>
              <a:ea typeface="Raleway Bold"/>
              <a:cs typeface="Raleway Bold"/>
              <a:sym typeface="Raleway Bold"/>
            </a:endParaRPr>
          </a:p>
          <a:p>
            <a:pPr marL="632717" lvl="1" indent="-316359" algn="just">
              <a:lnSpc>
                <a:spcPts val="3106"/>
              </a:lnSpc>
              <a:buFont typeface="Arial"/>
              <a:buChar char="•"/>
            </a:pPr>
            <a:r>
              <a:rPr lang="en-US" sz="2930" b="1">
                <a:solidFill>
                  <a:srgbClr val="FFFFFF"/>
                </a:solidFill>
                <a:latin typeface="Raleway Bold"/>
                <a:ea typeface="Raleway Bold"/>
                <a:cs typeface="Raleway Bold"/>
                <a:sym typeface="Raleway Bold"/>
              </a:rPr>
              <a:t>Ensure platform independence via browser extension.</a:t>
            </a:r>
          </a:p>
          <a:p>
            <a:pPr algn="just">
              <a:lnSpc>
                <a:spcPts val="3106"/>
              </a:lnSpc>
            </a:pPr>
            <a:endParaRPr lang="en-US" sz="2930" b="1">
              <a:solidFill>
                <a:srgbClr val="FFFFFF"/>
              </a:solidFill>
              <a:latin typeface="Raleway Bold"/>
              <a:ea typeface="Raleway Bold"/>
              <a:cs typeface="Raleway Bold"/>
              <a:sym typeface="Raleway Bold"/>
            </a:endParaRPr>
          </a:p>
          <a:p>
            <a:pPr marL="632717" lvl="1" indent="-316359" algn="just">
              <a:lnSpc>
                <a:spcPts val="3106"/>
              </a:lnSpc>
              <a:buFont typeface="Arial"/>
              <a:buChar char="•"/>
            </a:pPr>
            <a:r>
              <a:rPr lang="en-US" sz="2930" b="1">
                <a:solidFill>
                  <a:srgbClr val="FFFFFF"/>
                </a:solidFill>
                <a:latin typeface="Raleway Bold"/>
                <a:ea typeface="Raleway Bold"/>
                <a:cs typeface="Raleway Bold"/>
                <a:sym typeface="Raleway Bold"/>
              </a:rPr>
              <a:t>Show comments in an admin dashboard.</a:t>
            </a:r>
          </a:p>
          <a:p>
            <a:pPr algn="just">
              <a:lnSpc>
                <a:spcPts val="3106"/>
              </a:lnSpc>
            </a:pPr>
            <a:endParaRPr lang="en-US" sz="2930" b="1">
              <a:solidFill>
                <a:srgbClr val="FFFFFF"/>
              </a:solidFill>
              <a:latin typeface="Raleway Bold"/>
              <a:ea typeface="Raleway Bold"/>
              <a:cs typeface="Raleway Bold"/>
              <a:sym typeface="Raleway Bold"/>
            </a:endParaRPr>
          </a:p>
          <a:p>
            <a:pPr marL="632717" lvl="1" indent="-316359" algn="just">
              <a:lnSpc>
                <a:spcPts val="3106"/>
              </a:lnSpc>
              <a:spcBef>
                <a:spcPct val="0"/>
              </a:spcBef>
              <a:buFont typeface="Arial"/>
              <a:buChar char="•"/>
            </a:pPr>
            <a:r>
              <a:rPr lang="en-US" sz="2930" b="1">
                <a:solidFill>
                  <a:srgbClr val="FFFFFF"/>
                </a:solidFill>
                <a:latin typeface="Raleway Bold"/>
                <a:ea typeface="Raleway Bold"/>
                <a:cs typeface="Raleway Bold"/>
                <a:sym typeface="Raleway Bold"/>
              </a:rPr>
              <a:t>Export comments as dataset for retraining.</a:t>
            </a:r>
          </a:p>
        </p:txBody>
      </p:sp>
      <p:sp>
        <p:nvSpPr>
          <p:cNvPr id="9" name="Freeform 9"/>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a:off x="1656389" y="2767614"/>
            <a:ext cx="4384854" cy="7010667"/>
          </a:xfrm>
          <a:custGeom>
            <a:avLst/>
            <a:gdLst/>
            <a:ahLst/>
            <a:cxnLst/>
            <a:rect l="l" t="t" r="r" b="b"/>
            <a:pathLst>
              <a:path w="4384854" h="7010667">
                <a:moveTo>
                  <a:pt x="0" y="0"/>
                </a:moveTo>
                <a:lnTo>
                  <a:pt x="4384854" y="0"/>
                </a:lnTo>
                <a:lnTo>
                  <a:pt x="4384854" y="7010667"/>
                </a:lnTo>
                <a:lnTo>
                  <a:pt x="0" y="70106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805316" y="4777129"/>
            <a:ext cx="6087000" cy="2860152"/>
          </a:xfrm>
          <a:custGeom>
            <a:avLst/>
            <a:gdLst/>
            <a:ahLst/>
            <a:cxnLst/>
            <a:rect l="l" t="t" r="r" b="b"/>
            <a:pathLst>
              <a:path w="6087000" h="2860152">
                <a:moveTo>
                  <a:pt x="0" y="0"/>
                </a:moveTo>
                <a:lnTo>
                  <a:pt x="6087000" y="0"/>
                </a:lnTo>
                <a:lnTo>
                  <a:pt x="6087000" y="2860151"/>
                </a:lnTo>
                <a:lnTo>
                  <a:pt x="0" y="2860151"/>
                </a:lnTo>
                <a:lnTo>
                  <a:pt x="0" y="0"/>
                </a:lnTo>
                <a:close/>
              </a:path>
            </a:pathLst>
          </a:custGeom>
          <a:blipFill>
            <a:blip r:embed="rId5"/>
            <a:stretch>
              <a:fillRect r="-14955"/>
            </a:stretch>
          </a:blipFill>
        </p:spPr>
      </p:sp>
      <p:sp>
        <p:nvSpPr>
          <p:cNvPr id="7" name="TextBox 7"/>
          <p:cNvSpPr txBox="1"/>
          <p:nvPr/>
        </p:nvSpPr>
        <p:spPr>
          <a:xfrm>
            <a:off x="7354150" y="2042010"/>
            <a:ext cx="8486333" cy="1167826"/>
          </a:xfrm>
          <a:prstGeom prst="rect">
            <a:avLst/>
          </a:prstGeom>
        </p:spPr>
        <p:txBody>
          <a:bodyPr lIns="0" tIns="0" rIns="0" bIns="0" rtlCol="0" anchor="t">
            <a:spAutoFit/>
          </a:bodyPr>
          <a:lstStyle/>
          <a:p>
            <a:pPr algn="l">
              <a:lnSpc>
                <a:spcPts val="8936"/>
              </a:lnSpc>
              <a:spcBef>
                <a:spcPct val="0"/>
              </a:spcBef>
            </a:pPr>
            <a:r>
              <a:rPr lang="en-US" sz="8430" b="1">
                <a:solidFill>
                  <a:srgbClr val="FFFFFF"/>
                </a:solidFill>
                <a:latin typeface="TT Lakes Neue Bold"/>
                <a:ea typeface="TT Lakes Neue Bold"/>
                <a:cs typeface="TT Lakes Neue Bold"/>
                <a:sym typeface="TT Lakes Neue Bold"/>
              </a:rPr>
              <a:t>SYSTEM</a:t>
            </a:r>
          </a:p>
        </p:txBody>
      </p:sp>
      <p:sp>
        <p:nvSpPr>
          <p:cNvPr id="8" name="TextBox 8"/>
          <p:cNvSpPr txBox="1"/>
          <p:nvPr/>
        </p:nvSpPr>
        <p:spPr>
          <a:xfrm>
            <a:off x="7354150" y="1002092"/>
            <a:ext cx="7435280"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PROPOSED</a:t>
            </a:r>
          </a:p>
        </p:txBody>
      </p:sp>
      <p:sp>
        <p:nvSpPr>
          <p:cNvPr id="9" name="TextBox 9"/>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10" name="TextBox 10"/>
          <p:cNvSpPr txBox="1"/>
          <p:nvPr/>
        </p:nvSpPr>
        <p:spPr>
          <a:xfrm>
            <a:off x="7310064" y="3676193"/>
            <a:ext cx="10692328" cy="5222085"/>
          </a:xfrm>
          <a:prstGeom prst="rect">
            <a:avLst/>
          </a:prstGeom>
        </p:spPr>
        <p:txBody>
          <a:bodyPr lIns="0" tIns="0" rIns="0" bIns="0" rtlCol="0" anchor="t">
            <a:spAutoFit/>
          </a:bodyPr>
          <a:lstStyle/>
          <a:p>
            <a:pPr marL="607262" lvl="1" indent="-303631" algn="l">
              <a:lnSpc>
                <a:spcPts val="2981"/>
              </a:lnSpc>
              <a:buFont typeface="Arial"/>
              <a:buChar char="•"/>
            </a:pPr>
            <a:r>
              <a:rPr lang="en-US" sz="2812" b="1">
                <a:solidFill>
                  <a:srgbClr val="FFFFFF"/>
                </a:solidFill>
                <a:latin typeface="Raleway Bold"/>
                <a:ea typeface="Raleway Bold"/>
                <a:cs typeface="Raleway Bold"/>
                <a:sym typeface="Raleway Bold"/>
              </a:rPr>
              <a:t>Detects and filters toxic or bullying comments across multiple languages in real time.</a:t>
            </a:r>
          </a:p>
          <a:p>
            <a:pPr algn="l">
              <a:lnSpc>
                <a:spcPts val="2981"/>
              </a:lnSpc>
            </a:pPr>
            <a:endParaRPr lang="en-US" sz="2812" b="1">
              <a:solidFill>
                <a:srgbClr val="FFFFFF"/>
              </a:solidFill>
              <a:latin typeface="Raleway Bold"/>
              <a:ea typeface="Raleway Bold"/>
              <a:cs typeface="Raleway Bold"/>
              <a:sym typeface="Raleway Bold"/>
            </a:endParaRPr>
          </a:p>
          <a:p>
            <a:pPr marL="607262" lvl="1" indent="-303631" algn="l">
              <a:lnSpc>
                <a:spcPts val="2981"/>
              </a:lnSpc>
              <a:buFont typeface="Arial"/>
              <a:buChar char="•"/>
            </a:pPr>
            <a:r>
              <a:rPr lang="en-US" sz="2812" b="1">
                <a:solidFill>
                  <a:srgbClr val="FFFFFF"/>
                </a:solidFill>
                <a:latin typeface="Raleway Bold"/>
                <a:ea typeface="Raleway Bold"/>
                <a:cs typeface="Raleway Bold"/>
                <a:sym typeface="Raleway Bold"/>
              </a:rPr>
              <a:t>Implemented as a browser extension integrated with a fine-tuned NLP model.</a:t>
            </a:r>
          </a:p>
          <a:p>
            <a:pPr algn="l">
              <a:lnSpc>
                <a:spcPts val="2981"/>
              </a:lnSpc>
            </a:pPr>
            <a:endParaRPr lang="en-US" sz="2812" b="1">
              <a:solidFill>
                <a:srgbClr val="FFFFFF"/>
              </a:solidFill>
              <a:latin typeface="Raleway Bold"/>
              <a:ea typeface="Raleway Bold"/>
              <a:cs typeface="Raleway Bold"/>
              <a:sym typeface="Raleway Bold"/>
            </a:endParaRPr>
          </a:p>
          <a:p>
            <a:pPr marL="607262" lvl="1" indent="-303631" algn="l">
              <a:lnSpc>
                <a:spcPts val="2981"/>
              </a:lnSpc>
              <a:buFont typeface="Arial"/>
              <a:buChar char="•"/>
            </a:pPr>
            <a:r>
              <a:rPr lang="en-US" sz="2812" b="1">
                <a:solidFill>
                  <a:srgbClr val="FFFFFF"/>
                </a:solidFill>
                <a:latin typeface="Raleway Bold"/>
                <a:ea typeface="Raleway Bold"/>
                <a:cs typeface="Raleway Bold"/>
                <a:sym typeface="Raleway Bold"/>
              </a:rPr>
              <a:t>Computes a toxicity score and categorizes comments into Low, Moderate, and High levels.</a:t>
            </a:r>
          </a:p>
          <a:p>
            <a:pPr algn="l">
              <a:lnSpc>
                <a:spcPts val="2981"/>
              </a:lnSpc>
            </a:pPr>
            <a:endParaRPr lang="en-US" sz="2812" b="1">
              <a:solidFill>
                <a:srgbClr val="FFFFFF"/>
              </a:solidFill>
              <a:latin typeface="Raleway Bold"/>
              <a:ea typeface="Raleway Bold"/>
              <a:cs typeface="Raleway Bold"/>
              <a:sym typeface="Raleway Bold"/>
            </a:endParaRPr>
          </a:p>
          <a:p>
            <a:pPr marL="607262" lvl="1" indent="-303631" algn="l">
              <a:lnSpc>
                <a:spcPts val="2981"/>
              </a:lnSpc>
              <a:buFont typeface="Arial"/>
              <a:buChar char="•"/>
            </a:pPr>
            <a:r>
              <a:rPr lang="en-US" sz="2812" b="1">
                <a:solidFill>
                  <a:srgbClr val="FFFFFF"/>
                </a:solidFill>
                <a:latin typeface="Raleway Bold"/>
                <a:ea typeface="Raleway Bold"/>
                <a:cs typeface="Raleway Bold"/>
                <a:sym typeface="Raleway Bold"/>
              </a:rPr>
              <a:t>Automatically blurs toxic comments while showing warnings and a “View” option for user control.</a:t>
            </a:r>
          </a:p>
          <a:p>
            <a:pPr algn="l">
              <a:lnSpc>
                <a:spcPts val="2981"/>
              </a:lnSpc>
            </a:pPr>
            <a:endParaRPr lang="en-US" sz="2812" b="1">
              <a:solidFill>
                <a:srgbClr val="FFFFFF"/>
              </a:solidFill>
              <a:latin typeface="Raleway Bold"/>
              <a:ea typeface="Raleway Bold"/>
              <a:cs typeface="Raleway Bold"/>
              <a:sym typeface="Raleway Bold"/>
            </a:endParaRPr>
          </a:p>
          <a:p>
            <a:pPr marL="607262" lvl="1" indent="-303631" algn="l">
              <a:lnSpc>
                <a:spcPts val="2981"/>
              </a:lnSpc>
              <a:spcBef>
                <a:spcPct val="0"/>
              </a:spcBef>
              <a:buFont typeface="Arial"/>
              <a:buChar char="•"/>
            </a:pPr>
            <a:r>
              <a:rPr lang="en-US" sz="2812" b="1">
                <a:solidFill>
                  <a:srgbClr val="FFFFFF"/>
                </a:solidFill>
                <a:latin typeface="Raleway Bold"/>
                <a:ea typeface="Raleway Bold"/>
                <a:cs typeface="Raleway Bold"/>
                <a:sym typeface="Raleway Bold"/>
              </a:rPr>
              <a:t>Aims to create a safer and more positive online environment.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70684" y="1150919"/>
            <a:ext cx="8486333" cy="1167826"/>
          </a:xfrm>
          <a:prstGeom prst="rect">
            <a:avLst/>
          </a:prstGeom>
        </p:spPr>
        <p:txBody>
          <a:bodyPr lIns="0" tIns="0" rIns="0" bIns="0" rtlCol="0" anchor="t">
            <a:spAutoFit/>
          </a:bodyPr>
          <a:lstStyle/>
          <a:p>
            <a:pPr algn="l">
              <a:lnSpc>
                <a:spcPts val="8936"/>
              </a:lnSpc>
              <a:spcBef>
                <a:spcPct val="0"/>
              </a:spcBef>
            </a:pPr>
            <a:r>
              <a:rPr lang="en-US" sz="8430" b="1">
                <a:solidFill>
                  <a:srgbClr val="FFFFFF"/>
                </a:solidFill>
                <a:latin typeface="TT Lakes Neue Bold"/>
                <a:ea typeface="TT Lakes Neue Bold"/>
                <a:cs typeface="TT Lakes Neue Bold"/>
                <a:sym typeface="TT Lakes Neue Bold"/>
              </a:rPr>
              <a:t>SYSTEM</a:t>
            </a:r>
          </a:p>
        </p:txBody>
      </p:sp>
      <p:sp>
        <p:nvSpPr>
          <p:cNvPr id="5" name="TextBox 5"/>
          <p:cNvSpPr txBox="1"/>
          <p:nvPr/>
        </p:nvSpPr>
        <p:spPr>
          <a:xfrm>
            <a:off x="3648237" y="1150919"/>
            <a:ext cx="7435280"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PROPOSED</a:t>
            </a:r>
          </a:p>
        </p:txBody>
      </p:sp>
      <p:sp>
        <p:nvSpPr>
          <p:cNvPr id="6" name="TextBox 6"/>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7" name="Freeform 7"/>
          <p:cNvSpPr/>
          <p:nvPr/>
        </p:nvSpPr>
        <p:spPr>
          <a:xfrm rot="-5400000">
            <a:off x="1219046" y="2068289"/>
            <a:ext cx="3960767" cy="6332621"/>
          </a:xfrm>
          <a:custGeom>
            <a:avLst/>
            <a:gdLst/>
            <a:ahLst/>
            <a:cxnLst/>
            <a:rect l="l" t="t" r="r" b="b"/>
            <a:pathLst>
              <a:path w="3960767" h="6332621">
                <a:moveTo>
                  <a:pt x="0" y="0"/>
                </a:moveTo>
                <a:lnTo>
                  <a:pt x="3960766" y="0"/>
                </a:lnTo>
                <a:lnTo>
                  <a:pt x="3960766" y="6332621"/>
                </a:lnTo>
                <a:lnTo>
                  <a:pt x="0" y="633262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6549534" y="2590893"/>
            <a:ext cx="11452858" cy="6088347"/>
          </a:xfrm>
          <a:prstGeom prst="rect">
            <a:avLst/>
          </a:prstGeom>
        </p:spPr>
        <p:txBody>
          <a:bodyPr lIns="0" tIns="0" rIns="0" bIns="0" rtlCol="0" anchor="t">
            <a:spAutoFit/>
          </a:bodyPr>
          <a:lstStyle/>
          <a:p>
            <a:pPr algn="l">
              <a:lnSpc>
                <a:spcPts val="3215"/>
              </a:lnSpc>
            </a:pPr>
            <a:r>
              <a:rPr lang="en-US" sz="3033" b="1">
                <a:solidFill>
                  <a:srgbClr val="FFFFFF"/>
                </a:solidFill>
                <a:latin typeface="Raleway Bold"/>
                <a:ea typeface="Raleway Bold"/>
                <a:cs typeface="Raleway Bold"/>
                <a:sym typeface="Raleway Bold"/>
              </a:rPr>
              <a:t>SYSTEM OVERVIEW:</a:t>
            </a:r>
          </a:p>
          <a:p>
            <a:pPr algn="l">
              <a:lnSpc>
                <a:spcPts val="2685"/>
              </a:lnSpc>
            </a:pPr>
            <a:r>
              <a:rPr lang="en-US" sz="2533" b="1">
                <a:solidFill>
                  <a:srgbClr val="FFFFFF"/>
                </a:solidFill>
                <a:latin typeface="Raleway Bold"/>
                <a:ea typeface="Raleway Bold"/>
                <a:cs typeface="Raleway Bold"/>
                <a:sym typeface="Raleway Bold"/>
              </a:rPr>
              <a:t>1. Backend – AI Model + Flask API</a:t>
            </a:r>
          </a:p>
          <a:p>
            <a:pPr marL="547059" lvl="1" indent="-273529" algn="l">
              <a:lnSpc>
                <a:spcPts val="2685"/>
              </a:lnSpc>
              <a:buFont typeface="Arial"/>
              <a:buChar char="•"/>
            </a:pPr>
            <a:r>
              <a:rPr lang="en-US" sz="2533">
                <a:solidFill>
                  <a:srgbClr val="FFFFFF"/>
                </a:solidFill>
                <a:latin typeface="Raleway"/>
                <a:ea typeface="Raleway"/>
                <a:cs typeface="Raleway"/>
                <a:sym typeface="Raleway"/>
              </a:rPr>
              <a:t>Uses XLM-RoBERTa (multilingual transformer model) from Hugging Face.</a:t>
            </a:r>
          </a:p>
          <a:p>
            <a:pPr marL="547059" lvl="1" indent="-273529" algn="l">
              <a:lnSpc>
                <a:spcPts val="2685"/>
              </a:lnSpc>
              <a:buFont typeface="Arial"/>
              <a:buChar char="•"/>
            </a:pPr>
            <a:r>
              <a:rPr lang="en-US" sz="2533">
                <a:solidFill>
                  <a:srgbClr val="FFFFFF"/>
                </a:solidFill>
                <a:latin typeface="Raleway"/>
                <a:ea typeface="Raleway"/>
                <a:cs typeface="Raleway"/>
                <a:sym typeface="Raleway"/>
              </a:rPr>
              <a:t>Fine-tuned on multilingual datasets (English, Hindi, Bengali, Arabic, German).</a:t>
            </a:r>
          </a:p>
          <a:p>
            <a:pPr marL="547059" lvl="1" indent="-273529" algn="l">
              <a:lnSpc>
                <a:spcPts val="2685"/>
              </a:lnSpc>
              <a:buFont typeface="Arial"/>
              <a:buChar char="•"/>
            </a:pPr>
            <a:r>
              <a:rPr lang="en-US" sz="2533">
                <a:solidFill>
                  <a:srgbClr val="FFFFFF"/>
                </a:solidFill>
                <a:latin typeface="Raleway"/>
                <a:ea typeface="Raleway"/>
                <a:cs typeface="Raleway"/>
                <a:sym typeface="Raleway"/>
              </a:rPr>
              <a:t>Enhances understanding of regional slang, expressions, and code-mixed text.</a:t>
            </a:r>
          </a:p>
          <a:p>
            <a:pPr marL="547059" lvl="1" indent="-273529" algn="l">
              <a:lnSpc>
                <a:spcPts val="2685"/>
              </a:lnSpc>
              <a:buFont typeface="Arial"/>
              <a:buChar char="•"/>
            </a:pPr>
            <a:r>
              <a:rPr lang="en-US" sz="2533">
                <a:solidFill>
                  <a:srgbClr val="FFFFFF"/>
                </a:solidFill>
                <a:latin typeface="Raleway"/>
                <a:ea typeface="Raleway"/>
                <a:cs typeface="Raleway"/>
                <a:sym typeface="Raleway"/>
              </a:rPr>
              <a:t>An API that predicts toxicity from input text.</a:t>
            </a:r>
          </a:p>
          <a:p>
            <a:pPr algn="l">
              <a:lnSpc>
                <a:spcPts val="2685"/>
              </a:lnSpc>
            </a:pPr>
            <a:endParaRPr lang="en-US" sz="2533">
              <a:solidFill>
                <a:srgbClr val="FFFFFF"/>
              </a:solidFill>
              <a:latin typeface="Raleway"/>
              <a:ea typeface="Raleway"/>
              <a:cs typeface="Raleway"/>
              <a:sym typeface="Raleway"/>
            </a:endParaRPr>
          </a:p>
          <a:p>
            <a:pPr algn="l">
              <a:lnSpc>
                <a:spcPts val="2685"/>
              </a:lnSpc>
            </a:pPr>
            <a:r>
              <a:rPr lang="en-US" sz="2533" b="1">
                <a:solidFill>
                  <a:srgbClr val="FFFFFF"/>
                </a:solidFill>
                <a:latin typeface="Raleway Bold"/>
                <a:ea typeface="Raleway Bold"/>
                <a:cs typeface="Raleway Bold"/>
                <a:sym typeface="Raleway Bold"/>
              </a:rPr>
              <a:t>2. Frontend – Browser Extension</a:t>
            </a:r>
          </a:p>
          <a:p>
            <a:pPr marL="547059" lvl="1" indent="-273529" algn="l">
              <a:lnSpc>
                <a:spcPts val="2685"/>
              </a:lnSpc>
              <a:buFont typeface="Arial"/>
              <a:buChar char="•"/>
            </a:pPr>
            <a:r>
              <a:rPr lang="en-US" sz="2533">
                <a:solidFill>
                  <a:srgbClr val="FFFFFF"/>
                </a:solidFill>
                <a:latin typeface="Raleway"/>
                <a:ea typeface="Raleway"/>
                <a:cs typeface="Raleway"/>
                <a:sym typeface="Raleway"/>
              </a:rPr>
              <a:t>Developed using HTML, CSS, and JavaScript.</a:t>
            </a:r>
          </a:p>
          <a:p>
            <a:pPr marL="547059" lvl="1" indent="-273529" algn="l">
              <a:lnSpc>
                <a:spcPts val="2685"/>
              </a:lnSpc>
              <a:buFont typeface="Arial"/>
              <a:buChar char="•"/>
            </a:pPr>
            <a:r>
              <a:rPr lang="en-US" sz="2533">
                <a:solidFill>
                  <a:srgbClr val="FFFFFF"/>
                </a:solidFill>
                <a:latin typeface="Raleway"/>
                <a:ea typeface="Raleway"/>
                <a:cs typeface="Raleway"/>
                <a:sym typeface="Raleway"/>
              </a:rPr>
              <a:t>Scans visible comments on social media platforms (Instagram, YouTube, X).</a:t>
            </a:r>
          </a:p>
          <a:p>
            <a:pPr marL="547059" lvl="1" indent="-273529" algn="l">
              <a:lnSpc>
                <a:spcPts val="2685"/>
              </a:lnSpc>
              <a:buFont typeface="Arial"/>
              <a:buChar char="•"/>
            </a:pPr>
            <a:r>
              <a:rPr lang="en-US" sz="2533">
                <a:solidFill>
                  <a:srgbClr val="FFFFFF"/>
                </a:solidFill>
                <a:latin typeface="Raleway"/>
                <a:ea typeface="Raleway"/>
                <a:cs typeface="Raleway"/>
                <a:sym typeface="Raleway"/>
              </a:rPr>
              <a:t>Sends each comment to the Flask API for classification.</a:t>
            </a:r>
          </a:p>
          <a:p>
            <a:pPr marL="547059" lvl="1" indent="-273529" algn="l">
              <a:lnSpc>
                <a:spcPts val="2685"/>
              </a:lnSpc>
              <a:buFont typeface="Arial"/>
              <a:buChar char="•"/>
            </a:pPr>
            <a:r>
              <a:rPr lang="en-US" sz="2533">
                <a:solidFill>
                  <a:srgbClr val="FFFFFF"/>
                </a:solidFill>
                <a:latin typeface="Raleway"/>
                <a:ea typeface="Raleway"/>
                <a:cs typeface="Raleway"/>
                <a:sym typeface="Raleway"/>
              </a:rPr>
              <a:t>Toxic comments are blurred or hidden, with a warning message shown.</a:t>
            </a:r>
          </a:p>
          <a:p>
            <a:pPr marL="547059" lvl="1" indent="-273529" algn="l">
              <a:lnSpc>
                <a:spcPts val="2685"/>
              </a:lnSpc>
              <a:spcBef>
                <a:spcPct val="0"/>
              </a:spcBef>
              <a:buFont typeface="Arial"/>
              <a:buChar char="•"/>
            </a:pPr>
            <a:r>
              <a:rPr lang="en-US" sz="2533">
                <a:solidFill>
                  <a:srgbClr val="FFFFFF"/>
                </a:solidFill>
                <a:latin typeface="Raleway"/>
                <a:ea typeface="Raleway"/>
                <a:cs typeface="Raleway"/>
                <a:sym typeface="Raleway"/>
              </a:rPr>
              <a:t>Users can reveal comments manually, ensuring transparency and control.</a:t>
            </a:r>
          </a:p>
        </p:txBody>
      </p:sp>
      <p:sp>
        <p:nvSpPr>
          <p:cNvPr id="9" name="Freeform 9"/>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38000"/>
              <a:extLst>
                <a:ext uri="{96DAC541-7B7A-43D3-8B79-37D633B846F1}">
                  <asvg:svgBlip xmlns:asvg="http://schemas.microsoft.com/office/drawing/2016/SVG/main" r:embed="rId3"/>
                </a:ext>
              </a:extLst>
            </a:blip>
            <a:stretch>
              <a:fillRect/>
            </a:stretch>
          </a:blipFill>
        </p:spPr>
      </p:sp>
      <p:sp>
        <p:nvSpPr>
          <p:cNvPr id="10" name="Freeform 10"/>
          <p:cNvSpPr/>
          <p:nvPr/>
        </p:nvSpPr>
        <p:spPr>
          <a:xfrm>
            <a:off x="401247" y="3881221"/>
            <a:ext cx="5596364" cy="2552093"/>
          </a:xfrm>
          <a:custGeom>
            <a:avLst/>
            <a:gdLst/>
            <a:ahLst/>
            <a:cxnLst/>
            <a:rect l="l" t="t" r="r" b="b"/>
            <a:pathLst>
              <a:path w="5596364" h="2552093">
                <a:moveTo>
                  <a:pt x="0" y="0"/>
                </a:moveTo>
                <a:lnTo>
                  <a:pt x="5596364" y="0"/>
                </a:lnTo>
                <a:lnTo>
                  <a:pt x="5596364" y="2552093"/>
                </a:lnTo>
                <a:lnTo>
                  <a:pt x="0" y="2552093"/>
                </a:lnTo>
                <a:lnTo>
                  <a:pt x="0" y="0"/>
                </a:lnTo>
                <a:close/>
              </a:path>
            </a:pathLst>
          </a:custGeom>
          <a:blipFill>
            <a:blip r:embed="rId5"/>
            <a:stretch>
              <a:fillRect r="-14955" b="-3037"/>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3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201301" y="2989814"/>
            <a:ext cx="8942699" cy="5662120"/>
          </a:xfrm>
          <a:custGeom>
            <a:avLst/>
            <a:gdLst/>
            <a:ahLst/>
            <a:cxnLst/>
            <a:rect l="l" t="t" r="r" b="b"/>
            <a:pathLst>
              <a:path w="8942699" h="5662120">
                <a:moveTo>
                  <a:pt x="0" y="0"/>
                </a:moveTo>
                <a:lnTo>
                  <a:pt x="8942699" y="0"/>
                </a:lnTo>
                <a:lnTo>
                  <a:pt x="8942699" y="5662120"/>
                </a:lnTo>
                <a:lnTo>
                  <a:pt x="0" y="5662120"/>
                </a:lnTo>
                <a:lnTo>
                  <a:pt x="0" y="0"/>
                </a:lnTo>
                <a:close/>
              </a:path>
            </a:pathLst>
          </a:custGeom>
          <a:blipFill>
            <a:blip r:embed="rId4"/>
            <a:stretch>
              <a:fillRect t="-5226"/>
            </a:stretch>
          </a:blipFill>
        </p:spPr>
      </p:sp>
      <p:sp>
        <p:nvSpPr>
          <p:cNvPr id="6" name="TextBox 6"/>
          <p:cNvSpPr txBox="1"/>
          <p:nvPr/>
        </p:nvSpPr>
        <p:spPr>
          <a:xfrm>
            <a:off x="2666881" y="1133475"/>
            <a:ext cx="13909180" cy="1164037"/>
          </a:xfrm>
          <a:prstGeom prst="rect">
            <a:avLst/>
          </a:prstGeom>
        </p:spPr>
        <p:txBody>
          <a:bodyPr wrap="square" lIns="0" tIns="0" rIns="0" bIns="0" rtlCol="0" anchor="t">
            <a:spAutoFit/>
          </a:bodyPr>
          <a:lstStyle/>
          <a:p>
            <a:pPr algn="ctr">
              <a:lnSpc>
                <a:spcPts val="8753"/>
              </a:lnSpc>
              <a:spcBef>
                <a:spcPct val="0"/>
              </a:spcBef>
            </a:pPr>
            <a:r>
              <a:rPr lang="en-US" sz="8257" b="1" dirty="0">
                <a:solidFill>
                  <a:srgbClr val="84E3F8"/>
                </a:solidFill>
                <a:latin typeface="TT Lakes Neue Bold"/>
                <a:ea typeface="TT Lakes Neue Bold"/>
                <a:cs typeface="TT Lakes Neue Bold"/>
                <a:sym typeface="TT Lakes Neue Bold"/>
              </a:rPr>
              <a:t>TECHNICAL </a:t>
            </a:r>
            <a:r>
              <a:rPr lang="en-US" sz="8257" b="1" dirty="0">
                <a:solidFill>
                  <a:srgbClr val="FFFFFF"/>
                </a:solidFill>
                <a:latin typeface="TT Lakes Neue Bold"/>
                <a:ea typeface="TT Lakes Neue Bold"/>
                <a:cs typeface="TT Lakes Neue Bold"/>
                <a:sym typeface="TT Lakes Neue Bold"/>
              </a:rPr>
              <a:t>APPROACH</a:t>
            </a:r>
          </a:p>
        </p:txBody>
      </p:sp>
      <p:sp>
        <p:nvSpPr>
          <p:cNvPr id="7" name="TextBox 7"/>
          <p:cNvSpPr txBox="1"/>
          <p:nvPr/>
        </p:nvSpPr>
        <p:spPr>
          <a:xfrm>
            <a:off x="9372600" y="2705100"/>
            <a:ext cx="8511681" cy="6707670"/>
          </a:xfrm>
          <a:prstGeom prst="rect">
            <a:avLst/>
          </a:prstGeom>
        </p:spPr>
        <p:txBody>
          <a:bodyPr wrap="square" lIns="0" tIns="0" rIns="0" bIns="0" rtlCol="0" anchor="t">
            <a:spAutoFit/>
          </a:bodyPr>
          <a:lstStyle/>
          <a:p>
            <a:pPr algn="just">
              <a:lnSpc>
                <a:spcPts val="2522"/>
              </a:lnSpc>
            </a:pPr>
            <a:r>
              <a:rPr lang="en-US" b="1" dirty="0">
                <a:solidFill>
                  <a:srgbClr val="FFFFFF"/>
                </a:solidFill>
                <a:latin typeface="Raleway Bold"/>
                <a:ea typeface="Raleway Bold"/>
                <a:cs typeface="Raleway Bold"/>
                <a:sym typeface="Raleway Bold"/>
              </a:rPr>
              <a:t>FRONTEND (BROWSER EXTENSION) :</a:t>
            </a:r>
          </a:p>
          <a:p>
            <a:pPr algn="just">
              <a:lnSpc>
                <a:spcPts val="2522"/>
              </a:lnSpc>
              <a:spcBef>
                <a:spcPct val="0"/>
              </a:spcBef>
            </a:pPr>
            <a:r>
              <a:rPr lang="en-US" dirty="0">
                <a:solidFill>
                  <a:srgbClr val="FFFFFF"/>
                </a:solidFill>
                <a:latin typeface="Raleway"/>
                <a:ea typeface="Raleway"/>
                <a:cs typeface="Raleway"/>
                <a:sym typeface="Raleway"/>
              </a:rPr>
              <a:t>The browser extension scans and captures comments from web pages in real time and sends them for analysis.</a:t>
            </a:r>
          </a:p>
          <a:p>
            <a:pPr algn="just">
              <a:lnSpc>
                <a:spcPts val="2522"/>
              </a:lnSpc>
              <a:spcBef>
                <a:spcPct val="0"/>
              </a:spcBef>
            </a:pPr>
            <a:endParaRPr lang="en-US" dirty="0">
              <a:solidFill>
                <a:srgbClr val="FFFFFF"/>
              </a:solidFill>
              <a:latin typeface="Raleway"/>
              <a:ea typeface="Raleway"/>
              <a:cs typeface="Raleway"/>
              <a:sym typeface="Raleway"/>
            </a:endParaRPr>
          </a:p>
          <a:p>
            <a:pPr algn="just">
              <a:lnSpc>
                <a:spcPts val="2522"/>
              </a:lnSpc>
              <a:spcBef>
                <a:spcPct val="0"/>
              </a:spcBef>
            </a:pPr>
            <a:r>
              <a:rPr lang="en-US" b="1" dirty="0">
                <a:solidFill>
                  <a:srgbClr val="FFFFFF"/>
                </a:solidFill>
                <a:latin typeface="Raleway Bold"/>
                <a:ea typeface="Raleway Bold"/>
                <a:cs typeface="Raleway Bold"/>
                <a:sym typeface="Raleway Bold"/>
              </a:rPr>
              <a:t>BACKEND &amp; AI MODEL :</a:t>
            </a:r>
          </a:p>
          <a:p>
            <a:pPr algn="just">
              <a:lnSpc>
                <a:spcPts val="2522"/>
              </a:lnSpc>
              <a:spcBef>
                <a:spcPct val="0"/>
              </a:spcBef>
            </a:pPr>
            <a:r>
              <a:rPr lang="en-US" dirty="0">
                <a:solidFill>
                  <a:srgbClr val="FFFFFF"/>
                </a:solidFill>
                <a:latin typeface="Raleway"/>
                <a:ea typeface="Raleway"/>
                <a:cs typeface="Raleway"/>
                <a:sym typeface="Raleway"/>
              </a:rPr>
              <a:t>The Flask backend receives the comment, processes it using an AI/NLP model, and classifies it (e.g., toxic or neutral).</a:t>
            </a:r>
          </a:p>
          <a:p>
            <a:pPr algn="just">
              <a:lnSpc>
                <a:spcPts val="2522"/>
              </a:lnSpc>
              <a:spcBef>
                <a:spcPct val="0"/>
              </a:spcBef>
            </a:pPr>
            <a:endParaRPr lang="en-US" dirty="0">
              <a:solidFill>
                <a:srgbClr val="FFFFFF"/>
              </a:solidFill>
              <a:latin typeface="Raleway"/>
              <a:ea typeface="Raleway"/>
              <a:cs typeface="Raleway"/>
              <a:sym typeface="Raleway"/>
            </a:endParaRPr>
          </a:p>
          <a:p>
            <a:pPr algn="just">
              <a:lnSpc>
                <a:spcPts val="2522"/>
              </a:lnSpc>
              <a:spcBef>
                <a:spcPct val="0"/>
              </a:spcBef>
            </a:pPr>
            <a:r>
              <a:rPr lang="en-US" b="1" dirty="0">
                <a:solidFill>
                  <a:srgbClr val="FFFFFF"/>
                </a:solidFill>
                <a:latin typeface="Raleway Bold"/>
                <a:ea typeface="Raleway Bold"/>
                <a:cs typeface="Raleway Bold"/>
                <a:sym typeface="Raleway Bold"/>
              </a:rPr>
              <a:t>COMMENT PROCESSING &amp; DETECTION :</a:t>
            </a:r>
          </a:p>
          <a:p>
            <a:pPr algn="just">
              <a:lnSpc>
                <a:spcPts val="2522"/>
              </a:lnSpc>
              <a:spcBef>
                <a:spcPct val="0"/>
              </a:spcBef>
            </a:pPr>
            <a:r>
              <a:rPr lang="en-US" dirty="0">
                <a:solidFill>
                  <a:srgbClr val="FFFFFF"/>
                </a:solidFill>
                <a:latin typeface="Raleway"/>
                <a:ea typeface="Raleway"/>
                <a:cs typeface="Raleway"/>
                <a:sym typeface="Raleway"/>
              </a:rPr>
              <a:t>Comments are cleaned and analyzed using a fine-tuned XLM-</a:t>
            </a:r>
            <a:r>
              <a:rPr lang="en-US" dirty="0" err="1">
                <a:solidFill>
                  <a:srgbClr val="FFFFFF"/>
                </a:solidFill>
                <a:latin typeface="Raleway"/>
                <a:ea typeface="Raleway"/>
                <a:cs typeface="Raleway"/>
                <a:sym typeface="Raleway"/>
              </a:rPr>
              <a:t>RoBERTa</a:t>
            </a:r>
            <a:r>
              <a:rPr lang="en-US" dirty="0">
                <a:solidFill>
                  <a:srgbClr val="FFFFFF"/>
                </a:solidFill>
                <a:latin typeface="Raleway"/>
                <a:ea typeface="Raleway"/>
                <a:cs typeface="Raleway"/>
                <a:sym typeface="Raleway"/>
              </a:rPr>
              <a:t> model for toxicity detection.</a:t>
            </a:r>
          </a:p>
          <a:p>
            <a:pPr algn="just">
              <a:lnSpc>
                <a:spcPts val="2522"/>
              </a:lnSpc>
              <a:spcBef>
                <a:spcPct val="0"/>
              </a:spcBef>
            </a:pPr>
            <a:endParaRPr lang="en-US" dirty="0">
              <a:solidFill>
                <a:srgbClr val="FFFFFF"/>
              </a:solidFill>
              <a:latin typeface="Raleway"/>
              <a:ea typeface="Raleway"/>
              <a:cs typeface="Raleway"/>
              <a:sym typeface="Raleway"/>
            </a:endParaRPr>
          </a:p>
          <a:p>
            <a:pPr algn="just">
              <a:lnSpc>
                <a:spcPts val="2522"/>
              </a:lnSpc>
              <a:spcBef>
                <a:spcPct val="0"/>
              </a:spcBef>
            </a:pPr>
            <a:r>
              <a:rPr lang="en-US" b="1" dirty="0">
                <a:solidFill>
                  <a:srgbClr val="FFFFFF"/>
                </a:solidFill>
                <a:latin typeface="Raleway Bold"/>
                <a:ea typeface="Raleway Bold"/>
                <a:cs typeface="Raleway Bold"/>
                <a:sym typeface="Raleway Bold"/>
              </a:rPr>
              <a:t>SCORING &amp; CLASSIFICATION :</a:t>
            </a:r>
          </a:p>
          <a:p>
            <a:pPr algn="just">
              <a:lnSpc>
                <a:spcPts val="2522"/>
              </a:lnSpc>
              <a:spcBef>
                <a:spcPct val="0"/>
              </a:spcBef>
            </a:pPr>
            <a:r>
              <a:rPr lang="en-US" dirty="0">
                <a:solidFill>
                  <a:srgbClr val="FFFFFF"/>
                </a:solidFill>
                <a:latin typeface="Raleway"/>
                <a:ea typeface="Raleway"/>
                <a:cs typeface="Raleway"/>
                <a:sym typeface="Raleway"/>
              </a:rPr>
              <a:t>A weighted scoring method calculates toxicity level (Low / Moderate / High).</a:t>
            </a:r>
          </a:p>
          <a:p>
            <a:pPr algn="just">
              <a:lnSpc>
                <a:spcPts val="2522"/>
              </a:lnSpc>
              <a:spcBef>
                <a:spcPct val="0"/>
              </a:spcBef>
            </a:pPr>
            <a:endParaRPr lang="en-US" dirty="0">
              <a:solidFill>
                <a:srgbClr val="FFFFFF"/>
              </a:solidFill>
              <a:latin typeface="Raleway"/>
              <a:ea typeface="Raleway"/>
              <a:cs typeface="Raleway"/>
              <a:sym typeface="Raleway"/>
            </a:endParaRPr>
          </a:p>
          <a:p>
            <a:pPr algn="just">
              <a:lnSpc>
                <a:spcPts val="2522"/>
              </a:lnSpc>
              <a:spcBef>
                <a:spcPct val="0"/>
              </a:spcBef>
            </a:pPr>
            <a:r>
              <a:rPr lang="en-US" b="1" dirty="0">
                <a:solidFill>
                  <a:srgbClr val="FFFFFF"/>
                </a:solidFill>
                <a:latin typeface="Raleway Bold"/>
                <a:ea typeface="Raleway Bold"/>
                <a:cs typeface="Raleway Bold"/>
                <a:sym typeface="Raleway Bold"/>
              </a:rPr>
              <a:t>RESPONSE &amp; UI UPDATE :</a:t>
            </a:r>
          </a:p>
          <a:p>
            <a:pPr algn="just">
              <a:lnSpc>
                <a:spcPts val="2522"/>
              </a:lnSpc>
              <a:spcBef>
                <a:spcPct val="0"/>
              </a:spcBef>
            </a:pPr>
            <a:r>
              <a:rPr lang="en-US" dirty="0">
                <a:solidFill>
                  <a:srgbClr val="FFFFFF"/>
                </a:solidFill>
                <a:latin typeface="Raleway"/>
                <a:ea typeface="Raleway"/>
                <a:cs typeface="Raleway"/>
                <a:sym typeface="Raleway"/>
              </a:rPr>
              <a:t>Toxic comments are blurred with warning, score, and “View” option displayed to the user.</a:t>
            </a:r>
          </a:p>
          <a:p>
            <a:pPr algn="just">
              <a:lnSpc>
                <a:spcPts val="2522"/>
              </a:lnSpc>
              <a:spcBef>
                <a:spcPct val="0"/>
              </a:spcBef>
            </a:pPr>
            <a:endParaRPr lang="en-US" dirty="0">
              <a:solidFill>
                <a:srgbClr val="FFFFFF"/>
              </a:solidFill>
              <a:latin typeface="Raleway"/>
              <a:ea typeface="Raleway"/>
              <a:cs typeface="Raleway"/>
              <a:sym typeface="Raleway"/>
            </a:endParaRPr>
          </a:p>
          <a:p>
            <a:pPr algn="just">
              <a:lnSpc>
                <a:spcPts val="2522"/>
              </a:lnSpc>
              <a:spcBef>
                <a:spcPct val="0"/>
              </a:spcBef>
            </a:pPr>
            <a:r>
              <a:rPr lang="en-US" b="1" dirty="0">
                <a:solidFill>
                  <a:srgbClr val="FFFFFF"/>
                </a:solidFill>
                <a:latin typeface="Raleway Bold"/>
                <a:ea typeface="Raleway Bold"/>
                <a:cs typeface="Raleway Bold"/>
                <a:sym typeface="Raleway Bold"/>
              </a:rPr>
              <a:t>STORAGE &amp; MONITORING :</a:t>
            </a:r>
          </a:p>
          <a:p>
            <a:pPr algn="just">
              <a:lnSpc>
                <a:spcPts val="2522"/>
              </a:lnSpc>
              <a:spcBef>
                <a:spcPct val="0"/>
              </a:spcBef>
            </a:pPr>
            <a:r>
              <a:rPr lang="en-US" dirty="0">
                <a:solidFill>
                  <a:srgbClr val="FFFFFF"/>
                </a:solidFill>
                <a:latin typeface="Raleway"/>
                <a:ea typeface="Raleway"/>
                <a:cs typeface="Raleway"/>
                <a:sym typeface="Raleway"/>
              </a:rPr>
              <a:t>Results are stored in a database for logging and admin dashboard monitoring.</a:t>
            </a:r>
          </a:p>
        </p:txBody>
      </p:sp>
      <p:sp>
        <p:nvSpPr>
          <p:cNvPr id="8" name="TextBox 8"/>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5840483" y="1043276"/>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4" name="Freeform 4"/>
          <p:cNvSpPr/>
          <p:nvPr/>
        </p:nvSpPr>
        <p:spPr>
          <a:xfrm>
            <a:off x="255542" y="2991113"/>
            <a:ext cx="798053" cy="783543"/>
          </a:xfrm>
          <a:custGeom>
            <a:avLst/>
            <a:gdLst/>
            <a:ahLst/>
            <a:cxnLst/>
            <a:rect l="l" t="t" r="r" b="b"/>
            <a:pathLst>
              <a:path w="798053" h="783543">
                <a:moveTo>
                  <a:pt x="0" y="0"/>
                </a:moveTo>
                <a:lnTo>
                  <a:pt x="798053" y="0"/>
                </a:lnTo>
                <a:lnTo>
                  <a:pt x="798053" y="783543"/>
                </a:lnTo>
                <a:lnTo>
                  <a:pt x="0" y="783543"/>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54568" y="3275117"/>
            <a:ext cx="254874" cy="263166"/>
          </a:xfrm>
          <a:prstGeom prst="rect">
            <a:avLst/>
          </a:prstGeom>
        </p:spPr>
        <p:txBody>
          <a:bodyPr lIns="0" tIns="0" rIns="0" bIns="0" rtlCol="0" anchor="t">
            <a:spAutoFit/>
          </a:bodyPr>
          <a:lstStyle/>
          <a:p>
            <a:pPr algn="l">
              <a:lnSpc>
                <a:spcPts val="2060"/>
              </a:lnSpc>
              <a:spcBef>
                <a:spcPct val="0"/>
              </a:spcBef>
            </a:pPr>
            <a:r>
              <a:rPr lang="en-US" sz="1944">
                <a:solidFill>
                  <a:srgbClr val="FFFFFF"/>
                </a:solidFill>
                <a:latin typeface="TT Lakes Neue"/>
                <a:ea typeface="TT Lakes Neue"/>
                <a:cs typeface="TT Lakes Neue"/>
                <a:sym typeface="TT Lakes Neue"/>
              </a:rPr>
              <a:t>1.</a:t>
            </a:r>
          </a:p>
        </p:txBody>
      </p:sp>
      <p:sp>
        <p:nvSpPr>
          <p:cNvPr id="6" name="TextBox 6"/>
          <p:cNvSpPr txBox="1"/>
          <p:nvPr/>
        </p:nvSpPr>
        <p:spPr>
          <a:xfrm>
            <a:off x="1317515" y="3108933"/>
            <a:ext cx="3196991" cy="580418"/>
          </a:xfrm>
          <a:prstGeom prst="rect">
            <a:avLst/>
          </a:prstGeom>
        </p:spPr>
        <p:txBody>
          <a:bodyPr lIns="0" tIns="0" rIns="0" bIns="0" rtlCol="0" anchor="t">
            <a:spAutoFit/>
          </a:bodyPr>
          <a:lstStyle/>
          <a:p>
            <a:pPr algn="l">
              <a:lnSpc>
                <a:spcPts val="2235"/>
              </a:lnSpc>
              <a:spcBef>
                <a:spcPct val="0"/>
              </a:spcBef>
            </a:pPr>
            <a:r>
              <a:rPr lang="en-US" sz="2108" b="1">
                <a:solidFill>
                  <a:srgbClr val="FFFFFF"/>
                </a:solidFill>
                <a:latin typeface="Raleway Bold"/>
                <a:ea typeface="Raleway Bold"/>
                <a:cs typeface="Raleway Bold"/>
                <a:sym typeface="Raleway Bold"/>
              </a:rPr>
              <a:t>FRAMEWORKS AND LIBRARIES</a:t>
            </a:r>
          </a:p>
        </p:txBody>
      </p:sp>
      <p:sp>
        <p:nvSpPr>
          <p:cNvPr id="7" name="TextBox 7"/>
          <p:cNvSpPr txBox="1"/>
          <p:nvPr/>
        </p:nvSpPr>
        <p:spPr>
          <a:xfrm>
            <a:off x="782005" y="3903094"/>
            <a:ext cx="3875830" cy="2950973"/>
          </a:xfrm>
          <a:prstGeom prst="rect">
            <a:avLst/>
          </a:prstGeom>
        </p:spPr>
        <p:txBody>
          <a:bodyPr lIns="0" tIns="0" rIns="0" bIns="0" rtlCol="0" anchor="t">
            <a:spAutoFit/>
          </a:bodyPr>
          <a:lstStyle/>
          <a:p>
            <a:pPr marL="441066" lvl="1" indent="-220533" algn="l">
              <a:lnSpc>
                <a:spcPts val="2165"/>
              </a:lnSpc>
              <a:buFont typeface="Arial"/>
              <a:buChar char="•"/>
            </a:pPr>
            <a:r>
              <a:rPr lang="en-US" sz="2042" b="1">
                <a:solidFill>
                  <a:srgbClr val="FFFFFF"/>
                </a:solidFill>
                <a:latin typeface="Raleway Semi-Bold"/>
                <a:ea typeface="Raleway Semi-Bold"/>
                <a:cs typeface="Raleway Semi-Bold"/>
                <a:sym typeface="Raleway Semi-Bold"/>
              </a:rPr>
              <a:t>Flask – for Backend API handling</a:t>
            </a:r>
          </a:p>
          <a:p>
            <a:pPr algn="l">
              <a:lnSpc>
                <a:spcPts val="2165"/>
              </a:lnSpc>
            </a:pPr>
            <a:endParaRPr lang="en-US" sz="2042" b="1">
              <a:solidFill>
                <a:srgbClr val="FFFFFF"/>
              </a:solidFill>
              <a:latin typeface="Raleway Semi-Bold"/>
              <a:ea typeface="Raleway Semi-Bold"/>
              <a:cs typeface="Raleway Semi-Bold"/>
              <a:sym typeface="Raleway Semi-Bold"/>
            </a:endParaRPr>
          </a:p>
          <a:p>
            <a:pPr marL="441066" lvl="1" indent="-220533" algn="l">
              <a:lnSpc>
                <a:spcPts val="2165"/>
              </a:lnSpc>
              <a:buFont typeface="Arial"/>
              <a:buChar char="•"/>
            </a:pPr>
            <a:r>
              <a:rPr lang="en-US" sz="2042" b="1">
                <a:solidFill>
                  <a:srgbClr val="FFFFFF"/>
                </a:solidFill>
                <a:latin typeface="Raleway Semi-Bold"/>
                <a:ea typeface="Raleway Semi-Bold"/>
                <a:cs typeface="Raleway Semi-Bold"/>
                <a:sym typeface="Raleway Semi-Bold"/>
              </a:rPr>
              <a:t>Transformers (Hugging Face) – for loading and using pre-trained toxicity detection models</a:t>
            </a:r>
          </a:p>
          <a:p>
            <a:pPr algn="l">
              <a:lnSpc>
                <a:spcPts val="2165"/>
              </a:lnSpc>
            </a:pPr>
            <a:endParaRPr lang="en-US" sz="2042" b="1">
              <a:solidFill>
                <a:srgbClr val="FFFFFF"/>
              </a:solidFill>
              <a:latin typeface="Raleway Semi-Bold"/>
              <a:ea typeface="Raleway Semi-Bold"/>
              <a:cs typeface="Raleway Semi-Bold"/>
              <a:sym typeface="Raleway Semi-Bold"/>
            </a:endParaRPr>
          </a:p>
          <a:p>
            <a:pPr marL="441066" lvl="1" indent="-220533" algn="l">
              <a:lnSpc>
                <a:spcPts val="2165"/>
              </a:lnSpc>
              <a:buFont typeface="Arial"/>
              <a:buChar char="•"/>
            </a:pPr>
            <a:r>
              <a:rPr lang="en-US" sz="2042" b="1">
                <a:solidFill>
                  <a:srgbClr val="FFFFFF"/>
                </a:solidFill>
                <a:latin typeface="Raleway Semi-Bold"/>
                <a:ea typeface="Raleway Semi-Bold"/>
                <a:cs typeface="Raleway Semi-Bold"/>
                <a:sym typeface="Raleway Semi-Bold"/>
              </a:rPr>
              <a:t>PyTorch – for deep learning model inference</a:t>
            </a:r>
          </a:p>
          <a:p>
            <a:pPr algn="l">
              <a:lnSpc>
                <a:spcPts val="2165"/>
              </a:lnSpc>
            </a:pPr>
            <a:endParaRPr lang="en-US" sz="2042" b="1">
              <a:solidFill>
                <a:srgbClr val="FFFFFF"/>
              </a:solidFill>
              <a:latin typeface="Raleway Semi-Bold"/>
              <a:ea typeface="Raleway Semi-Bold"/>
              <a:cs typeface="Raleway Semi-Bold"/>
              <a:sym typeface="Raleway Semi-Bold"/>
            </a:endParaRPr>
          </a:p>
        </p:txBody>
      </p:sp>
      <p:sp>
        <p:nvSpPr>
          <p:cNvPr id="8" name="Freeform 8"/>
          <p:cNvSpPr/>
          <p:nvPr/>
        </p:nvSpPr>
        <p:spPr>
          <a:xfrm>
            <a:off x="8879288" y="2991113"/>
            <a:ext cx="799166" cy="784635"/>
          </a:xfrm>
          <a:custGeom>
            <a:avLst/>
            <a:gdLst/>
            <a:ahLst/>
            <a:cxnLst/>
            <a:rect l="l" t="t" r="r" b="b"/>
            <a:pathLst>
              <a:path w="799166" h="784635">
                <a:moveTo>
                  <a:pt x="0" y="0"/>
                </a:moveTo>
                <a:lnTo>
                  <a:pt x="799165" y="0"/>
                </a:lnTo>
                <a:lnTo>
                  <a:pt x="799165" y="784635"/>
                </a:lnTo>
                <a:lnTo>
                  <a:pt x="0" y="784635"/>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9167985" y="3275797"/>
            <a:ext cx="255229" cy="263214"/>
          </a:xfrm>
          <a:prstGeom prst="rect">
            <a:avLst/>
          </a:prstGeom>
        </p:spPr>
        <p:txBody>
          <a:bodyPr lIns="0" tIns="0" rIns="0" bIns="0" rtlCol="0" anchor="t">
            <a:spAutoFit/>
          </a:bodyPr>
          <a:lstStyle/>
          <a:p>
            <a:pPr algn="l">
              <a:lnSpc>
                <a:spcPts val="2063"/>
              </a:lnSpc>
              <a:spcBef>
                <a:spcPct val="0"/>
              </a:spcBef>
            </a:pPr>
            <a:r>
              <a:rPr lang="en-US" sz="1946">
                <a:solidFill>
                  <a:srgbClr val="FFFFFF"/>
                </a:solidFill>
                <a:latin typeface="TT Lakes Neue"/>
                <a:ea typeface="TT Lakes Neue"/>
                <a:cs typeface="TT Lakes Neue"/>
                <a:sym typeface="TT Lakes Neue"/>
              </a:rPr>
              <a:t>3.</a:t>
            </a:r>
          </a:p>
        </p:txBody>
      </p:sp>
      <p:sp>
        <p:nvSpPr>
          <p:cNvPr id="10" name="TextBox 10"/>
          <p:cNvSpPr txBox="1"/>
          <p:nvPr/>
        </p:nvSpPr>
        <p:spPr>
          <a:xfrm>
            <a:off x="9945153" y="3124012"/>
            <a:ext cx="2488353" cy="304245"/>
          </a:xfrm>
          <a:prstGeom prst="rect">
            <a:avLst/>
          </a:prstGeom>
        </p:spPr>
        <p:txBody>
          <a:bodyPr lIns="0" tIns="0" rIns="0" bIns="0" rtlCol="0" anchor="t">
            <a:spAutoFit/>
          </a:bodyPr>
          <a:lstStyle/>
          <a:p>
            <a:pPr algn="l">
              <a:lnSpc>
                <a:spcPts val="2238"/>
              </a:lnSpc>
              <a:spcBef>
                <a:spcPct val="0"/>
              </a:spcBef>
            </a:pPr>
            <a:r>
              <a:rPr lang="en-US" sz="2111" b="1">
                <a:solidFill>
                  <a:srgbClr val="FFFFFF"/>
                </a:solidFill>
                <a:latin typeface="Raleway Bold"/>
                <a:ea typeface="Raleway Bold"/>
                <a:cs typeface="Raleway Bold"/>
                <a:sym typeface="Raleway Bold"/>
              </a:rPr>
              <a:t>SOFTWARE</a:t>
            </a:r>
          </a:p>
        </p:txBody>
      </p:sp>
      <p:sp>
        <p:nvSpPr>
          <p:cNvPr id="11" name="TextBox 11"/>
          <p:cNvSpPr txBox="1"/>
          <p:nvPr/>
        </p:nvSpPr>
        <p:spPr>
          <a:xfrm>
            <a:off x="9423214" y="3903094"/>
            <a:ext cx="4384705" cy="4551192"/>
          </a:xfrm>
          <a:prstGeom prst="rect">
            <a:avLst/>
          </a:prstGeom>
        </p:spPr>
        <p:txBody>
          <a:bodyPr lIns="0" tIns="0" rIns="0" bIns="0" rtlCol="0" anchor="t">
            <a:spAutoFit/>
          </a:bodyPr>
          <a:lstStyle/>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Frontend (Extension) : HTML, CSS, JavaScript</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Backend (API) : Python (Flask)</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Hugging Face Spaces - for cloud deployment and model hosting</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Browser Platform : Google Chrome </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Database : SQLite </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Bold"/>
                <a:ea typeface="Raleway Bold"/>
                <a:cs typeface="Raleway Bold"/>
                <a:sym typeface="Raleway Bold"/>
              </a:rPr>
              <a:t>Development Tools : </a:t>
            </a:r>
            <a:r>
              <a:rPr lang="en-US" sz="2043" b="1">
                <a:solidFill>
                  <a:srgbClr val="FFFFFF"/>
                </a:solidFill>
                <a:latin typeface="Raleway Semi-Bold"/>
                <a:ea typeface="Raleway Semi-Bold"/>
                <a:cs typeface="Raleway Semi-Bold"/>
                <a:sym typeface="Raleway Semi-Bold"/>
              </a:rPr>
              <a:t>Chrome Developer Tools, VS Code </a:t>
            </a:r>
          </a:p>
          <a:p>
            <a:pPr algn="l">
              <a:lnSpc>
                <a:spcPts val="2166"/>
              </a:lnSpc>
            </a:pPr>
            <a:endParaRPr lang="en-US" sz="2043" b="1">
              <a:solidFill>
                <a:srgbClr val="FFFFFF"/>
              </a:solidFill>
              <a:latin typeface="Raleway Semi-Bold"/>
              <a:ea typeface="Raleway Semi-Bold"/>
              <a:cs typeface="Raleway Semi-Bold"/>
              <a:sym typeface="Raleway Semi-Bold"/>
            </a:endParaRPr>
          </a:p>
        </p:txBody>
      </p:sp>
      <p:sp>
        <p:nvSpPr>
          <p:cNvPr id="12" name="Freeform 12"/>
          <p:cNvSpPr/>
          <p:nvPr/>
        </p:nvSpPr>
        <p:spPr>
          <a:xfrm>
            <a:off x="13807919" y="2991113"/>
            <a:ext cx="801219" cy="786651"/>
          </a:xfrm>
          <a:custGeom>
            <a:avLst/>
            <a:gdLst/>
            <a:ahLst/>
            <a:cxnLst/>
            <a:rect l="l" t="t" r="r" b="b"/>
            <a:pathLst>
              <a:path w="801219" h="786651">
                <a:moveTo>
                  <a:pt x="0" y="0"/>
                </a:moveTo>
                <a:lnTo>
                  <a:pt x="801219" y="0"/>
                </a:lnTo>
                <a:lnTo>
                  <a:pt x="801219" y="786651"/>
                </a:lnTo>
                <a:lnTo>
                  <a:pt x="0" y="786651"/>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4064841" y="3276130"/>
            <a:ext cx="255885" cy="274595"/>
          </a:xfrm>
          <a:prstGeom prst="rect">
            <a:avLst/>
          </a:prstGeom>
        </p:spPr>
        <p:txBody>
          <a:bodyPr lIns="0" tIns="0" rIns="0" bIns="0" rtlCol="0" anchor="t">
            <a:spAutoFit/>
          </a:bodyPr>
          <a:lstStyle/>
          <a:p>
            <a:pPr algn="l">
              <a:lnSpc>
                <a:spcPts val="2174"/>
              </a:lnSpc>
              <a:spcBef>
                <a:spcPct val="0"/>
              </a:spcBef>
            </a:pPr>
            <a:r>
              <a:rPr lang="en-US" sz="2051">
                <a:solidFill>
                  <a:srgbClr val="FFFFFF"/>
                </a:solidFill>
                <a:latin typeface="TT Lakes Neue"/>
                <a:ea typeface="TT Lakes Neue"/>
                <a:cs typeface="TT Lakes Neue"/>
                <a:sym typeface="TT Lakes Neue"/>
              </a:rPr>
              <a:t>4.</a:t>
            </a:r>
          </a:p>
        </p:txBody>
      </p:sp>
      <p:sp>
        <p:nvSpPr>
          <p:cNvPr id="14" name="TextBox 14"/>
          <p:cNvSpPr txBox="1"/>
          <p:nvPr/>
        </p:nvSpPr>
        <p:spPr>
          <a:xfrm>
            <a:off x="14989930" y="3118888"/>
            <a:ext cx="3441758" cy="284120"/>
          </a:xfrm>
          <a:prstGeom prst="rect">
            <a:avLst/>
          </a:prstGeom>
        </p:spPr>
        <p:txBody>
          <a:bodyPr lIns="0" tIns="0" rIns="0" bIns="0" rtlCol="0" anchor="t">
            <a:spAutoFit/>
          </a:bodyPr>
          <a:lstStyle/>
          <a:p>
            <a:pPr algn="l">
              <a:lnSpc>
                <a:spcPts val="2174"/>
              </a:lnSpc>
              <a:spcBef>
                <a:spcPct val="0"/>
              </a:spcBef>
            </a:pPr>
            <a:r>
              <a:rPr lang="en-US" sz="2051" b="1">
                <a:solidFill>
                  <a:srgbClr val="FFFFFF"/>
                </a:solidFill>
                <a:latin typeface="Raleway Bold"/>
                <a:ea typeface="Raleway Bold"/>
                <a:cs typeface="Raleway Bold"/>
                <a:sym typeface="Raleway Bold"/>
              </a:rPr>
              <a:t>HARDWARE</a:t>
            </a:r>
          </a:p>
        </p:txBody>
      </p:sp>
      <p:sp>
        <p:nvSpPr>
          <p:cNvPr id="15" name="TextBox 15"/>
          <p:cNvSpPr txBox="1"/>
          <p:nvPr/>
        </p:nvSpPr>
        <p:spPr>
          <a:xfrm>
            <a:off x="14320726" y="3887600"/>
            <a:ext cx="3967274" cy="2151020"/>
          </a:xfrm>
          <a:prstGeom prst="rect">
            <a:avLst/>
          </a:prstGeom>
        </p:spPr>
        <p:txBody>
          <a:bodyPr lIns="0" tIns="0" rIns="0" bIns="0" rtlCol="0" anchor="t">
            <a:spAutoFit/>
          </a:bodyPr>
          <a:lstStyle/>
          <a:p>
            <a:pPr marL="442849" lvl="1" indent="-221424" algn="l">
              <a:lnSpc>
                <a:spcPts val="2174"/>
              </a:lnSpc>
              <a:buFont typeface="Arial"/>
              <a:buChar char="•"/>
            </a:pPr>
            <a:r>
              <a:rPr lang="en-US" sz="2051" b="1">
                <a:solidFill>
                  <a:srgbClr val="FFFFFF"/>
                </a:solidFill>
                <a:latin typeface="Raleway Semi-Bold"/>
                <a:ea typeface="Raleway Semi-Bold"/>
                <a:cs typeface="Raleway Semi-Bold"/>
                <a:sym typeface="Raleway Semi-Bold"/>
              </a:rPr>
              <a:t>Operating System :</a:t>
            </a:r>
          </a:p>
          <a:p>
            <a:pPr algn="l">
              <a:lnSpc>
                <a:spcPts val="2174"/>
              </a:lnSpc>
            </a:pPr>
            <a:r>
              <a:rPr lang="en-US" sz="2051" b="1">
                <a:solidFill>
                  <a:srgbClr val="FFFFFF"/>
                </a:solidFill>
                <a:latin typeface="Raleway Semi-Bold"/>
                <a:ea typeface="Raleway Semi-Bold"/>
                <a:cs typeface="Raleway Semi-Bold"/>
                <a:sym typeface="Raleway Semi-Bold"/>
              </a:rPr>
              <a:t>       Windows 10 / 11</a:t>
            </a:r>
          </a:p>
          <a:p>
            <a:pPr algn="l">
              <a:lnSpc>
                <a:spcPts val="2174"/>
              </a:lnSpc>
            </a:pPr>
            <a:endParaRPr lang="en-US" sz="2051" b="1">
              <a:solidFill>
                <a:srgbClr val="FFFFFF"/>
              </a:solidFill>
              <a:latin typeface="Raleway Semi-Bold"/>
              <a:ea typeface="Raleway Semi-Bold"/>
              <a:cs typeface="Raleway Semi-Bold"/>
              <a:sym typeface="Raleway Semi-Bold"/>
            </a:endParaRPr>
          </a:p>
          <a:p>
            <a:pPr marL="442849" lvl="1" indent="-221424" algn="l">
              <a:lnSpc>
                <a:spcPts val="2174"/>
              </a:lnSpc>
              <a:buFont typeface="Arial"/>
              <a:buChar char="•"/>
            </a:pPr>
            <a:r>
              <a:rPr lang="en-US" sz="2051" b="1">
                <a:solidFill>
                  <a:srgbClr val="FFFFFF"/>
                </a:solidFill>
                <a:latin typeface="Raleway Semi-Bold"/>
                <a:ea typeface="Raleway Semi-Bold"/>
                <a:cs typeface="Raleway Semi-Bold"/>
                <a:sym typeface="Raleway Semi-Bold"/>
              </a:rPr>
              <a:t>Processor : Dual-core or higher</a:t>
            </a:r>
          </a:p>
          <a:p>
            <a:pPr algn="l">
              <a:lnSpc>
                <a:spcPts val="2174"/>
              </a:lnSpc>
            </a:pPr>
            <a:endParaRPr lang="en-US" sz="2051" b="1">
              <a:solidFill>
                <a:srgbClr val="FFFFFF"/>
              </a:solidFill>
              <a:latin typeface="Raleway Semi-Bold"/>
              <a:ea typeface="Raleway Semi-Bold"/>
              <a:cs typeface="Raleway Semi-Bold"/>
              <a:sym typeface="Raleway Semi-Bold"/>
            </a:endParaRPr>
          </a:p>
          <a:p>
            <a:pPr marL="442849" lvl="1" indent="-221424" algn="l">
              <a:lnSpc>
                <a:spcPts val="2174"/>
              </a:lnSpc>
              <a:buFont typeface="Arial"/>
              <a:buChar char="•"/>
            </a:pPr>
            <a:r>
              <a:rPr lang="en-US" sz="2051" b="1">
                <a:solidFill>
                  <a:srgbClr val="FFFFFF"/>
                </a:solidFill>
                <a:latin typeface="Raleway Semi-Bold"/>
                <a:ea typeface="Raleway Semi-Bold"/>
                <a:cs typeface="Raleway Semi-Bold"/>
                <a:sym typeface="Raleway Semi-Bold"/>
              </a:rPr>
              <a:t>RAM :  Minimum 4 GB RAM </a:t>
            </a:r>
          </a:p>
          <a:p>
            <a:pPr algn="l">
              <a:lnSpc>
                <a:spcPts val="2174"/>
              </a:lnSpc>
            </a:pPr>
            <a:endParaRPr lang="en-US" sz="2051" b="1">
              <a:solidFill>
                <a:srgbClr val="FFFFFF"/>
              </a:solidFill>
              <a:latin typeface="Raleway Semi-Bold"/>
              <a:ea typeface="Raleway Semi-Bold"/>
              <a:cs typeface="Raleway Semi-Bold"/>
              <a:sym typeface="Raleway Semi-Bold"/>
            </a:endParaRPr>
          </a:p>
        </p:txBody>
      </p:sp>
      <p:sp>
        <p:nvSpPr>
          <p:cNvPr id="16" name="TextBox 16"/>
          <p:cNvSpPr txBox="1"/>
          <p:nvPr/>
        </p:nvSpPr>
        <p:spPr>
          <a:xfrm>
            <a:off x="4265980" y="1274925"/>
            <a:ext cx="9756040" cy="1169060"/>
          </a:xfrm>
          <a:prstGeom prst="rect">
            <a:avLst/>
          </a:prstGeom>
        </p:spPr>
        <p:txBody>
          <a:bodyPr lIns="0" tIns="0" rIns="0" bIns="0" rtlCol="0" anchor="t">
            <a:spAutoFit/>
          </a:bodyPr>
          <a:lstStyle/>
          <a:p>
            <a:pPr algn="ctr">
              <a:lnSpc>
                <a:spcPts val="8935"/>
              </a:lnSpc>
              <a:spcBef>
                <a:spcPct val="0"/>
              </a:spcBef>
            </a:pPr>
            <a:r>
              <a:rPr lang="en-US" sz="8430" b="1">
                <a:solidFill>
                  <a:srgbClr val="84E3F8"/>
                </a:solidFill>
                <a:latin typeface="TT Lakes Neue Bold"/>
                <a:ea typeface="TT Lakes Neue Bold"/>
                <a:cs typeface="TT Lakes Neue Bold"/>
                <a:sym typeface="TT Lakes Neue Bold"/>
              </a:rPr>
              <a:t>MODERN</a:t>
            </a:r>
            <a:r>
              <a:rPr lang="en-US" sz="8430" b="1">
                <a:solidFill>
                  <a:srgbClr val="FFFFFF"/>
                </a:solidFill>
                <a:latin typeface="TT Lakes Neue Bold"/>
                <a:ea typeface="TT Lakes Neue Bold"/>
                <a:cs typeface="TT Lakes Neue Bold"/>
                <a:sym typeface="TT Lakes Neue Bold"/>
              </a:rPr>
              <a:t> TOOLS</a:t>
            </a:r>
          </a:p>
        </p:txBody>
      </p:sp>
      <p:sp>
        <p:nvSpPr>
          <p:cNvPr id="17" name="Freeform 17"/>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18" name="Freeform 18"/>
          <p:cNvSpPr/>
          <p:nvPr/>
        </p:nvSpPr>
        <p:spPr>
          <a:xfrm>
            <a:off x="4566697" y="3009254"/>
            <a:ext cx="799166" cy="784635"/>
          </a:xfrm>
          <a:custGeom>
            <a:avLst/>
            <a:gdLst/>
            <a:ahLst/>
            <a:cxnLst/>
            <a:rect l="l" t="t" r="r" b="b"/>
            <a:pathLst>
              <a:path w="799166" h="784635">
                <a:moveTo>
                  <a:pt x="0" y="0"/>
                </a:moveTo>
                <a:lnTo>
                  <a:pt x="799166" y="0"/>
                </a:lnTo>
                <a:lnTo>
                  <a:pt x="799166" y="784635"/>
                </a:lnTo>
                <a:lnTo>
                  <a:pt x="0" y="784635"/>
                </a:lnTo>
                <a:lnTo>
                  <a:pt x="0" y="0"/>
                </a:lnTo>
                <a:close/>
              </a:path>
            </a:pathLst>
          </a:custGeom>
          <a:blipFill>
            <a:blip>
              <a:alphaModFix amt="72000"/>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4855394" y="3293938"/>
            <a:ext cx="255229" cy="263214"/>
          </a:xfrm>
          <a:prstGeom prst="rect">
            <a:avLst/>
          </a:prstGeom>
        </p:spPr>
        <p:txBody>
          <a:bodyPr lIns="0" tIns="0" rIns="0" bIns="0" rtlCol="0" anchor="t">
            <a:spAutoFit/>
          </a:bodyPr>
          <a:lstStyle/>
          <a:p>
            <a:pPr algn="l">
              <a:lnSpc>
                <a:spcPts val="2063"/>
              </a:lnSpc>
              <a:spcBef>
                <a:spcPct val="0"/>
              </a:spcBef>
            </a:pPr>
            <a:r>
              <a:rPr lang="en-US" sz="1946">
                <a:solidFill>
                  <a:srgbClr val="FFFFFF"/>
                </a:solidFill>
                <a:latin typeface="TT Lakes Neue"/>
                <a:ea typeface="TT Lakes Neue"/>
                <a:cs typeface="TT Lakes Neue"/>
                <a:sym typeface="TT Lakes Neue"/>
              </a:rPr>
              <a:t>2.</a:t>
            </a:r>
          </a:p>
        </p:txBody>
      </p:sp>
      <p:sp>
        <p:nvSpPr>
          <p:cNvPr id="20" name="TextBox 20"/>
          <p:cNvSpPr txBox="1"/>
          <p:nvPr/>
        </p:nvSpPr>
        <p:spPr>
          <a:xfrm>
            <a:off x="5632563" y="3109363"/>
            <a:ext cx="2722850" cy="304245"/>
          </a:xfrm>
          <a:prstGeom prst="rect">
            <a:avLst/>
          </a:prstGeom>
        </p:spPr>
        <p:txBody>
          <a:bodyPr lIns="0" tIns="0" rIns="0" bIns="0" rtlCol="0" anchor="t">
            <a:spAutoFit/>
          </a:bodyPr>
          <a:lstStyle/>
          <a:p>
            <a:pPr algn="l">
              <a:lnSpc>
                <a:spcPts val="2238"/>
              </a:lnSpc>
              <a:spcBef>
                <a:spcPct val="0"/>
              </a:spcBef>
            </a:pPr>
            <a:r>
              <a:rPr lang="en-US" sz="2111" b="1">
                <a:solidFill>
                  <a:srgbClr val="FFFFFF"/>
                </a:solidFill>
                <a:latin typeface="Raleway Bold"/>
                <a:ea typeface="Raleway Bold"/>
                <a:cs typeface="Raleway Bold"/>
                <a:sym typeface="Raleway Bold"/>
              </a:rPr>
              <a:t>APIS AND SERVICES</a:t>
            </a:r>
          </a:p>
        </p:txBody>
      </p:sp>
      <p:sp>
        <p:nvSpPr>
          <p:cNvPr id="21" name="TextBox 21"/>
          <p:cNvSpPr txBox="1"/>
          <p:nvPr/>
        </p:nvSpPr>
        <p:spPr>
          <a:xfrm>
            <a:off x="5093895" y="3903094"/>
            <a:ext cx="4184976" cy="2417592"/>
          </a:xfrm>
          <a:prstGeom prst="rect">
            <a:avLst/>
          </a:prstGeom>
        </p:spPr>
        <p:txBody>
          <a:bodyPr lIns="0" tIns="0" rIns="0" bIns="0" rtlCol="0" anchor="t">
            <a:spAutoFit/>
          </a:bodyPr>
          <a:lstStyle/>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Hugging Face Model API (textdetox/xlmr-large-toxicity-classifier) – for text toxicity prediction</a:t>
            </a:r>
          </a:p>
          <a:p>
            <a:pPr algn="l">
              <a:lnSpc>
                <a:spcPts val="2166"/>
              </a:lnSpc>
            </a:pPr>
            <a:endParaRPr lang="en-US" sz="2043" b="1">
              <a:solidFill>
                <a:srgbClr val="FFFFFF"/>
              </a:solidFill>
              <a:latin typeface="Raleway Semi-Bold"/>
              <a:ea typeface="Raleway Semi-Bold"/>
              <a:cs typeface="Raleway Semi-Bold"/>
              <a:sym typeface="Raleway Semi-Bold"/>
            </a:endParaRPr>
          </a:p>
          <a:p>
            <a:pPr marL="441291" lvl="1" indent="-220645" algn="l">
              <a:lnSpc>
                <a:spcPts val="2166"/>
              </a:lnSpc>
              <a:buFont typeface="Arial"/>
              <a:buChar char="•"/>
            </a:pPr>
            <a:r>
              <a:rPr lang="en-US" sz="2043" b="1">
                <a:solidFill>
                  <a:srgbClr val="FFFFFF"/>
                </a:solidFill>
                <a:latin typeface="Raleway Semi-Bold"/>
                <a:ea typeface="Raleway Semi-Bold"/>
                <a:cs typeface="Raleway Semi-Bold"/>
                <a:sym typeface="Raleway Semi-Bold"/>
              </a:rPr>
              <a:t>Chrome Extension API – for interacting with browser DOM and permissions</a:t>
            </a:r>
          </a:p>
          <a:p>
            <a:pPr algn="l">
              <a:lnSpc>
                <a:spcPts val="2166"/>
              </a:lnSpc>
            </a:pPr>
            <a:endParaRPr lang="en-US" sz="2043" b="1">
              <a:solidFill>
                <a:srgbClr val="FFFFFF"/>
              </a:solidFill>
              <a:latin typeface="Raleway Semi-Bold"/>
              <a:ea typeface="Raleway Semi-Bold"/>
              <a:cs typeface="Raleway Semi-Bold"/>
              <a:sym typeface="Raleway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6206452" y="1852456"/>
            <a:ext cx="5875095" cy="8312003"/>
          </a:xfrm>
          <a:custGeom>
            <a:avLst/>
            <a:gdLst/>
            <a:ahLst/>
            <a:cxnLst/>
            <a:rect l="l" t="t" r="r" b="b"/>
            <a:pathLst>
              <a:path w="5875095" h="8312003">
                <a:moveTo>
                  <a:pt x="0" y="0"/>
                </a:moveTo>
                <a:lnTo>
                  <a:pt x="5875096" y="0"/>
                </a:lnTo>
                <a:lnTo>
                  <a:pt x="5875096" y="8312003"/>
                </a:lnTo>
                <a:lnTo>
                  <a:pt x="0" y="8312003"/>
                </a:lnTo>
                <a:lnTo>
                  <a:pt x="0" y="0"/>
                </a:lnTo>
                <a:close/>
              </a:path>
            </a:pathLst>
          </a:custGeom>
          <a:blipFill>
            <a:blip r:embed="rId4"/>
            <a:stretch>
              <a:fillRect b="-6089"/>
            </a:stretch>
          </a:blipFill>
        </p:spPr>
      </p:sp>
      <p:sp>
        <p:nvSpPr>
          <p:cNvPr id="6" name="TextBox 6"/>
          <p:cNvSpPr txBox="1"/>
          <p:nvPr/>
        </p:nvSpPr>
        <p:spPr>
          <a:xfrm>
            <a:off x="3044487" y="371251"/>
            <a:ext cx="13167947" cy="913712"/>
          </a:xfrm>
          <a:prstGeom prst="rect">
            <a:avLst/>
          </a:prstGeom>
        </p:spPr>
        <p:txBody>
          <a:bodyPr wrap="square" lIns="0" tIns="0" rIns="0" bIns="0" rtlCol="0" anchor="t">
            <a:spAutoFit/>
          </a:bodyPr>
          <a:lstStyle/>
          <a:p>
            <a:pPr algn="ctr">
              <a:lnSpc>
                <a:spcPts val="6890"/>
              </a:lnSpc>
              <a:spcBef>
                <a:spcPct val="0"/>
              </a:spcBef>
            </a:pPr>
            <a:r>
              <a:rPr lang="en-US" sz="6500" b="1" dirty="0">
                <a:solidFill>
                  <a:srgbClr val="84E3F8"/>
                </a:solidFill>
                <a:latin typeface="TT Lakes Neue Bold"/>
                <a:ea typeface="TT Lakes Neue Bold"/>
                <a:cs typeface="TT Lakes Neue Bold"/>
                <a:sym typeface="TT Lakes Neue Bold"/>
              </a:rPr>
              <a:t>IMPLEMENTATION</a:t>
            </a:r>
            <a:r>
              <a:rPr lang="en-US" sz="6500" b="1" dirty="0">
                <a:solidFill>
                  <a:srgbClr val="FFFFFF"/>
                </a:solidFill>
                <a:latin typeface="TT Lakes Neue Bold"/>
                <a:ea typeface="TT Lakes Neue Bold"/>
                <a:cs typeface="TT Lakes Neue Bold"/>
                <a:sym typeface="TT Lakes Neue Bold"/>
              </a:rPr>
              <a:t> DETAILS</a:t>
            </a:r>
          </a:p>
        </p:txBody>
      </p:sp>
      <p:sp>
        <p:nvSpPr>
          <p:cNvPr id="7" name="TextBox 7"/>
          <p:cNvSpPr txBox="1"/>
          <p:nvPr/>
        </p:nvSpPr>
        <p:spPr>
          <a:xfrm>
            <a:off x="7239000" y="1284963"/>
            <a:ext cx="3810000" cy="567493"/>
          </a:xfrm>
          <a:prstGeom prst="rect">
            <a:avLst/>
          </a:prstGeom>
        </p:spPr>
        <p:txBody>
          <a:bodyPr wrap="square" lIns="0" tIns="0" rIns="0" bIns="0" rtlCol="0" anchor="t">
            <a:spAutoFit/>
          </a:bodyPr>
          <a:lstStyle/>
          <a:p>
            <a:pPr algn="ctr">
              <a:lnSpc>
                <a:spcPts val="4301"/>
              </a:lnSpc>
              <a:spcBef>
                <a:spcPct val="0"/>
              </a:spcBef>
            </a:pPr>
            <a:r>
              <a:rPr lang="en-US" sz="4057" b="1" dirty="0">
                <a:solidFill>
                  <a:srgbClr val="FFFFFF"/>
                </a:solidFill>
                <a:latin typeface="TT Lakes Neue Bold"/>
                <a:ea typeface="TT Lakes Neue Bold"/>
                <a:cs typeface="TT Lakes Neue Bold"/>
                <a:sym typeface="TT Lakes Neue Bold"/>
              </a:rPr>
              <a:t>FLOWCHART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l="8246" r="8246"/>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1"/>
            <p:extLst>
              <p:ext uri="{DAA4B4D4-6D71-4841-9C94-3DE7FCFB9230}">
                <p14:media xmlns:p14="http://schemas.microsoft.com/office/powerpoint/2010/main" r:embed="rId2">
                  <p14:trim st="4570"/>
                </p14:media>
              </p:ext>
            </p:extLst>
          </p:nvPr>
        </p:nvPicPr>
        <p:blipFill>
          <a:blip r:embed="rId4"/>
          <a:srcRect/>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l="2222" r="2222"/>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562951" y="3554727"/>
            <a:ext cx="8391259" cy="1169010"/>
          </a:xfrm>
          <a:custGeom>
            <a:avLst/>
            <a:gdLst/>
            <a:ahLst/>
            <a:cxnLst/>
            <a:rect l="l" t="t" r="r" b="b"/>
            <a:pathLst>
              <a:path w="8391259" h="1132820">
                <a:moveTo>
                  <a:pt x="0" y="0"/>
                </a:moveTo>
                <a:lnTo>
                  <a:pt x="8391259" y="0"/>
                </a:lnTo>
                <a:lnTo>
                  <a:pt x="8391259" y="1132820"/>
                </a:lnTo>
                <a:lnTo>
                  <a:pt x="0" y="1132820"/>
                </a:lnTo>
                <a:lnTo>
                  <a:pt x="0" y="0"/>
                </a:lnTo>
                <a:close/>
              </a:path>
            </a:pathLst>
          </a:custGeom>
          <a:blipFill>
            <a:blip r:embed="rId4"/>
            <a:stretch>
              <a:fillRect/>
            </a:stretch>
          </a:blipFill>
        </p:spPr>
      </p:sp>
      <p:sp>
        <p:nvSpPr>
          <p:cNvPr id="6" name="Freeform 6"/>
          <p:cNvSpPr/>
          <p:nvPr/>
        </p:nvSpPr>
        <p:spPr>
          <a:xfrm>
            <a:off x="443667" y="3597998"/>
            <a:ext cx="8391259" cy="1132820"/>
          </a:xfrm>
          <a:custGeom>
            <a:avLst/>
            <a:gdLst/>
            <a:ahLst/>
            <a:cxnLst/>
            <a:rect l="l" t="t" r="r" b="b"/>
            <a:pathLst>
              <a:path w="8482831" h="1145182">
                <a:moveTo>
                  <a:pt x="0" y="0"/>
                </a:moveTo>
                <a:lnTo>
                  <a:pt x="8482831" y="0"/>
                </a:lnTo>
                <a:lnTo>
                  <a:pt x="8482831" y="1145182"/>
                </a:lnTo>
                <a:lnTo>
                  <a:pt x="0" y="1145182"/>
                </a:lnTo>
                <a:lnTo>
                  <a:pt x="0" y="0"/>
                </a:lnTo>
                <a:close/>
              </a:path>
            </a:pathLst>
          </a:custGeom>
          <a:blipFill>
            <a:blip r:embed="rId5"/>
            <a:stretch>
              <a:fillRect l="1" r="-9291"/>
            </a:stretch>
          </a:blipFill>
        </p:spPr>
      </p:sp>
      <p:sp>
        <p:nvSpPr>
          <p:cNvPr id="7" name="TextBox 7"/>
          <p:cNvSpPr txBox="1"/>
          <p:nvPr/>
        </p:nvSpPr>
        <p:spPr>
          <a:xfrm>
            <a:off x="4993323" y="1150327"/>
            <a:ext cx="8301354" cy="1169010"/>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TEST </a:t>
            </a:r>
            <a:r>
              <a:rPr lang="en-US" sz="8430" b="1">
                <a:solidFill>
                  <a:srgbClr val="FFFFFF"/>
                </a:solidFill>
                <a:latin typeface="TT Lakes Neue Bold"/>
                <a:ea typeface="TT Lakes Neue Bold"/>
                <a:cs typeface="TT Lakes Neue Bold"/>
                <a:sym typeface="TT Lakes Neue Bold"/>
              </a:rPr>
              <a:t>CASES</a:t>
            </a:r>
          </a:p>
        </p:txBody>
      </p:sp>
      <p:sp>
        <p:nvSpPr>
          <p:cNvPr id="8" name="TextBox 8"/>
          <p:cNvSpPr txBox="1"/>
          <p:nvPr/>
        </p:nvSpPr>
        <p:spPr>
          <a:xfrm>
            <a:off x="3227771" y="2741072"/>
            <a:ext cx="2487229" cy="595484"/>
          </a:xfrm>
          <a:prstGeom prst="rect">
            <a:avLst/>
          </a:prstGeom>
        </p:spPr>
        <p:txBody>
          <a:bodyPr wrap="square" lIns="0" tIns="0" rIns="0" bIns="0" rtlCol="0" anchor="t">
            <a:spAutoFit/>
          </a:bodyPr>
          <a:lstStyle/>
          <a:p>
            <a:pPr algn="ctr">
              <a:lnSpc>
                <a:spcPts val="4483"/>
              </a:lnSpc>
              <a:spcBef>
                <a:spcPct val="0"/>
              </a:spcBef>
            </a:pPr>
            <a:r>
              <a:rPr lang="en-US" sz="4229" b="1" dirty="0">
                <a:solidFill>
                  <a:srgbClr val="FFFFFF"/>
                </a:solidFill>
                <a:latin typeface="TT Lakes Neue Bold"/>
                <a:ea typeface="TT Lakes Neue Bold"/>
                <a:cs typeface="TT Lakes Neue Bold"/>
                <a:sym typeface="TT Lakes Neue Bold"/>
              </a:rPr>
              <a:t>BEFORE</a:t>
            </a:r>
          </a:p>
        </p:txBody>
      </p:sp>
      <p:sp>
        <p:nvSpPr>
          <p:cNvPr id="9" name="TextBox 9"/>
          <p:cNvSpPr txBox="1"/>
          <p:nvPr/>
        </p:nvSpPr>
        <p:spPr>
          <a:xfrm>
            <a:off x="12852157" y="2741072"/>
            <a:ext cx="1812846" cy="580034"/>
          </a:xfrm>
          <a:prstGeom prst="rect">
            <a:avLst/>
          </a:prstGeom>
        </p:spPr>
        <p:txBody>
          <a:bodyPr lIns="0" tIns="0" rIns="0" bIns="0" rtlCol="0" anchor="t">
            <a:spAutoFit/>
          </a:bodyPr>
          <a:lstStyle/>
          <a:p>
            <a:pPr algn="ctr">
              <a:lnSpc>
                <a:spcPts val="4483"/>
              </a:lnSpc>
              <a:spcBef>
                <a:spcPct val="0"/>
              </a:spcBef>
            </a:pPr>
            <a:r>
              <a:rPr lang="en-US" sz="4229" b="1">
                <a:solidFill>
                  <a:srgbClr val="FFFFFF"/>
                </a:solidFill>
                <a:latin typeface="TT Lakes Neue Bold"/>
                <a:ea typeface="TT Lakes Neue Bold"/>
                <a:cs typeface="TT Lakes Neue Bold"/>
                <a:sym typeface="TT Lakes Neue Bold"/>
              </a:rPr>
              <a:t>AFTER</a:t>
            </a:r>
          </a:p>
        </p:txBody>
      </p:sp>
      <p:sp>
        <p:nvSpPr>
          <p:cNvPr id="10" name="Freeform 10"/>
          <p:cNvSpPr/>
          <p:nvPr/>
        </p:nvSpPr>
        <p:spPr>
          <a:xfrm>
            <a:off x="443668" y="5075617"/>
            <a:ext cx="7851588" cy="2326033"/>
          </a:xfrm>
          <a:custGeom>
            <a:avLst/>
            <a:gdLst/>
            <a:ahLst/>
            <a:cxnLst/>
            <a:rect l="l" t="t" r="r" b="b"/>
            <a:pathLst>
              <a:path w="7851588" h="2326033">
                <a:moveTo>
                  <a:pt x="0" y="0"/>
                </a:moveTo>
                <a:lnTo>
                  <a:pt x="7851588" y="0"/>
                </a:lnTo>
                <a:lnTo>
                  <a:pt x="7851588" y="2326033"/>
                </a:lnTo>
                <a:lnTo>
                  <a:pt x="0" y="2326033"/>
                </a:lnTo>
                <a:lnTo>
                  <a:pt x="0" y="0"/>
                </a:lnTo>
                <a:close/>
              </a:path>
            </a:pathLst>
          </a:custGeom>
          <a:blipFill>
            <a:blip r:embed="rId6"/>
            <a:stretch>
              <a:fillRect/>
            </a:stretch>
          </a:blipFill>
        </p:spPr>
      </p:sp>
      <p:sp>
        <p:nvSpPr>
          <p:cNvPr id="11" name="Freeform 11"/>
          <p:cNvSpPr/>
          <p:nvPr/>
        </p:nvSpPr>
        <p:spPr>
          <a:xfrm>
            <a:off x="9562951" y="5164686"/>
            <a:ext cx="7771546" cy="2195628"/>
          </a:xfrm>
          <a:custGeom>
            <a:avLst/>
            <a:gdLst/>
            <a:ahLst/>
            <a:cxnLst/>
            <a:rect l="l" t="t" r="r" b="b"/>
            <a:pathLst>
              <a:path w="7771546" h="2195628">
                <a:moveTo>
                  <a:pt x="0" y="0"/>
                </a:moveTo>
                <a:lnTo>
                  <a:pt x="7771546" y="0"/>
                </a:lnTo>
                <a:lnTo>
                  <a:pt x="7771546" y="2195628"/>
                </a:lnTo>
                <a:lnTo>
                  <a:pt x="0" y="2195628"/>
                </a:lnTo>
                <a:lnTo>
                  <a:pt x="0" y="0"/>
                </a:lnTo>
                <a:close/>
              </a:path>
            </a:pathLst>
          </a:custGeom>
          <a:blipFill>
            <a:blip r:embed="rId7"/>
            <a:stretch>
              <a:fillRect t="-438" b="-438"/>
            </a:stretch>
          </a:blipFill>
        </p:spPr>
      </p:sp>
      <p:sp>
        <p:nvSpPr>
          <p:cNvPr id="12" name="Freeform 12"/>
          <p:cNvSpPr/>
          <p:nvPr/>
        </p:nvSpPr>
        <p:spPr>
          <a:xfrm>
            <a:off x="446947" y="7765072"/>
            <a:ext cx="7068703" cy="1622321"/>
          </a:xfrm>
          <a:custGeom>
            <a:avLst/>
            <a:gdLst/>
            <a:ahLst/>
            <a:cxnLst/>
            <a:rect l="l" t="t" r="r" b="b"/>
            <a:pathLst>
              <a:path w="7068703" h="1622321">
                <a:moveTo>
                  <a:pt x="0" y="0"/>
                </a:moveTo>
                <a:lnTo>
                  <a:pt x="7068702" y="0"/>
                </a:lnTo>
                <a:lnTo>
                  <a:pt x="7068702" y="1622321"/>
                </a:lnTo>
                <a:lnTo>
                  <a:pt x="0" y="1622321"/>
                </a:lnTo>
                <a:lnTo>
                  <a:pt x="0" y="0"/>
                </a:lnTo>
                <a:close/>
              </a:path>
            </a:pathLst>
          </a:custGeom>
          <a:blipFill>
            <a:blip r:embed="rId8"/>
            <a:stretch>
              <a:fillRect t="-1758" r="-61317" b="-1758"/>
            </a:stretch>
          </a:blipFill>
        </p:spPr>
      </p:sp>
      <p:sp>
        <p:nvSpPr>
          <p:cNvPr id="13" name="Freeform 13"/>
          <p:cNvSpPr/>
          <p:nvPr/>
        </p:nvSpPr>
        <p:spPr>
          <a:xfrm>
            <a:off x="9562951" y="7765072"/>
            <a:ext cx="6649483" cy="1622321"/>
          </a:xfrm>
          <a:custGeom>
            <a:avLst/>
            <a:gdLst/>
            <a:ahLst/>
            <a:cxnLst/>
            <a:rect l="l" t="t" r="r" b="b"/>
            <a:pathLst>
              <a:path w="5967025" h="1622321">
                <a:moveTo>
                  <a:pt x="0" y="0"/>
                </a:moveTo>
                <a:lnTo>
                  <a:pt x="5967024" y="0"/>
                </a:lnTo>
                <a:lnTo>
                  <a:pt x="5967024" y="1622321"/>
                </a:lnTo>
                <a:lnTo>
                  <a:pt x="0" y="1622321"/>
                </a:lnTo>
                <a:lnTo>
                  <a:pt x="0" y="0"/>
                </a:lnTo>
                <a:close/>
              </a:path>
            </a:pathLst>
          </a:custGeom>
          <a:blipFill>
            <a:blip r:embed="rId9"/>
            <a:stretch>
              <a:fillRect t="-343" b="-343"/>
            </a:stretch>
          </a:blipFill>
          <a:ln cap="sq">
            <a:noFill/>
            <a:prstDash val="solid"/>
            <a:miter/>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039870" y="1150298"/>
            <a:ext cx="12208261" cy="2302542"/>
          </a:xfrm>
          <a:prstGeom prst="rect">
            <a:avLst/>
          </a:prstGeom>
        </p:spPr>
        <p:txBody>
          <a:bodyPr lIns="0" tIns="0" rIns="0" bIns="0" rtlCol="0" anchor="t">
            <a:spAutoFit/>
          </a:bodyPr>
          <a:lstStyle/>
          <a:p>
            <a:pPr algn="l">
              <a:lnSpc>
                <a:spcPts val="8936"/>
              </a:lnSpc>
            </a:pPr>
            <a:r>
              <a:rPr lang="en-US" sz="8430" b="1">
                <a:solidFill>
                  <a:srgbClr val="84E3F8"/>
                </a:solidFill>
                <a:latin typeface="TT Lakes Neue Bold"/>
                <a:ea typeface="TT Lakes Neue Bold"/>
                <a:cs typeface="TT Lakes Neue Bold"/>
                <a:sym typeface="TT Lakes Neue Bold"/>
              </a:rPr>
              <a:t>MODEL TRAINING &amp;</a:t>
            </a:r>
          </a:p>
          <a:p>
            <a:pPr algn="l">
              <a:lnSpc>
                <a:spcPts val="8936"/>
              </a:lnSpc>
              <a:spcBef>
                <a:spcPct val="0"/>
              </a:spcBef>
            </a:pPr>
            <a:r>
              <a:rPr lang="en-US" sz="8430" b="1">
                <a:solidFill>
                  <a:srgbClr val="FFFFFF"/>
                </a:solidFill>
                <a:latin typeface="TT Lakes Neue Bold"/>
                <a:ea typeface="TT Lakes Neue Bold"/>
                <a:cs typeface="TT Lakes Neue Bold"/>
                <a:sym typeface="TT Lakes Neue Bold"/>
              </a:rPr>
              <a:t>DATASET</a:t>
            </a:r>
          </a:p>
        </p:txBody>
      </p:sp>
      <p:sp>
        <p:nvSpPr>
          <p:cNvPr id="6" name="TextBox 6"/>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7" name="TextBox 7"/>
          <p:cNvSpPr txBox="1"/>
          <p:nvPr/>
        </p:nvSpPr>
        <p:spPr>
          <a:xfrm>
            <a:off x="1289724" y="3576828"/>
            <a:ext cx="10459033" cy="5681472"/>
          </a:xfrm>
          <a:prstGeom prst="rect">
            <a:avLst/>
          </a:prstGeom>
        </p:spPr>
        <p:txBody>
          <a:bodyPr lIns="0" tIns="0" rIns="0" bIns="0" rtlCol="0" anchor="t">
            <a:spAutoFit/>
          </a:bodyPr>
          <a:lstStyle/>
          <a:p>
            <a:pPr algn="l">
              <a:lnSpc>
                <a:spcPts val="2544"/>
              </a:lnSpc>
              <a:spcBef>
                <a:spcPct val="0"/>
              </a:spcBef>
            </a:pPr>
            <a:r>
              <a:rPr lang="en-US" sz="2400" b="1">
                <a:solidFill>
                  <a:srgbClr val="FFFFFF"/>
                </a:solidFill>
                <a:latin typeface="Raleway Bold"/>
                <a:ea typeface="Raleway Bold"/>
                <a:cs typeface="Raleway Bold"/>
                <a:sym typeface="Raleway Bold"/>
              </a:rPr>
              <a:t>DATASET SOURCE</a:t>
            </a:r>
          </a:p>
          <a:p>
            <a:pPr algn="l">
              <a:lnSpc>
                <a:spcPts val="2544"/>
              </a:lnSpc>
              <a:spcBef>
                <a:spcPct val="0"/>
              </a:spcBef>
            </a:pPr>
            <a:r>
              <a:rPr lang="en-US" sz="2400">
                <a:solidFill>
                  <a:srgbClr val="FFFFFF"/>
                </a:solidFill>
                <a:latin typeface="Raleway"/>
                <a:ea typeface="Raleway"/>
                <a:cs typeface="Raleway"/>
                <a:sym typeface="Raleway"/>
              </a:rPr>
              <a:t>Collected from social media comments and public data sources.</a:t>
            </a:r>
          </a:p>
          <a:p>
            <a:pPr algn="l">
              <a:lnSpc>
                <a:spcPts val="2544"/>
              </a:lnSpc>
              <a:spcBef>
                <a:spcPct val="0"/>
              </a:spcBef>
            </a:pPr>
            <a:endParaRPr lang="en-US" sz="2400">
              <a:solidFill>
                <a:srgbClr val="FFFFFF"/>
              </a:solidFill>
              <a:latin typeface="Raleway"/>
              <a:ea typeface="Raleway"/>
              <a:cs typeface="Raleway"/>
              <a:sym typeface="Raleway"/>
            </a:endParaRPr>
          </a:p>
          <a:p>
            <a:pPr algn="l">
              <a:lnSpc>
                <a:spcPts val="2544"/>
              </a:lnSpc>
              <a:spcBef>
                <a:spcPct val="0"/>
              </a:spcBef>
            </a:pPr>
            <a:r>
              <a:rPr lang="en-US" sz="2400" b="1">
                <a:solidFill>
                  <a:srgbClr val="FFFFFF"/>
                </a:solidFill>
                <a:latin typeface="Raleway Bold"/>
                <a:ea typeface="Raleway Bold"/>
                <a:cs typeface="Raleway Bold"/>
                <a:sym typeface="Raleway Bold"/>
              </a:rPr>
              <a:t>STANDARD DATASET</a:t>
            </a:r>
          </a:p>
          <a:p>
            <a:pPr algn="l">
              <a:lnSpc>
                <a:spcPts val="2544"/>
              </a:lnSpc>
              <a:spcBef>
                <a:spcPct val="0"/>
              </a:spcBef>
            </a:pPr>
            <a:r>
              <a:rPr lang="en-US" sz="2400">
                <a:solidFill>
                  <a:srgbClr val="FFFFFF"/>
                </a:solidFill>
                <a:latin typeface="Raleway"/>
                <a:ea typeface="Raleway"/>
                <a:cs typeface="Raleway"/>
                <a:sym typeface="Raleway"/>
              </a:rPr>
              <a:t>Follows the Jigsaw Toxic Comment Classification dataset format.</a:t>
            </a:r>
          </a:p>
          <a:p>
            <a:pPr algn="l">
              <a:lnSpc>
                <a:spcPts val="2544"/>
              </a:lnSpc>
              <a:spcBef>
                <a:spcPct val="0"/>
              </a:spcBef>
            </a:pPr>
            <a:endParaRPr lang="en-US" sz="2400">
              <a:solidFill>
                <a:srgbClr val="FFFFFF"/>
              </a:solidFill>
              <a:latin typeface="Raleway"/>
              <a:ea typeface="Raleway"/>
              <a:cs typeface="Raleway"/>
              <a:sym typeface="Raleway"/>
            </a:endParaRPr>
          </a:p>
          <a:p>
            <a:pPr algn="l">
              <a:lnSpc>
                <a:spcPts val="2544"/>
              </a:lnSpc>
              <a:spcBef>
                <a:spcPct val="0"/>
              </a:spcBef>
            </a:pPr>
            <a:r>
              <a:rPr lang="en-US" sz="2400" b="1">
                <a:solidFill>
                  <a:srgbClr val="FFFFFF"/>
                </a:solidFill>
                <a:latin typeface="Raleway Bold"/>
                <a:ea typeface="Raleway Bold"/>
                <a:cs typeface="Raleway Bold"/>
                <a:sym typeface="Raleway Bold"/>
              </a:rPr>
              <a:t>DATA LABELING &amp; SCORING</a:t>
            </a:r>
          </a:p>
          <a:p>
            <a:pPr algn="l">
              <a:lnSpc>
                <a:spcPts val="2544"/>
              </a:lnSpc>
              <a:spcBef>
                <a:spcPct val="0"/>
              </a:spcBef>
            </a:pPr>
            <a:r>
              <a:rPr lang="en-US" sz="2400">
                <a:solidFill>
                  <a:srgbClr val="FFFFFF"/>
                </a:solidFill>
                <a:latin typeface="Raleway"/>
                <a:ea typeface="Raleway"/>
                <a:cs typeface="Raleway"/>
                <a:sym typeface="Raleway"/>
              </a:rPr>
              <a:t>Each comment is classified into six categories (Toxic, Severe Toxic, Obscene, Threat, Insult, Identity Hate) using binary labels (0/1), with weighted scoring to compute overall toxicity.</a:t>
            </a:r>
          </a:p>
          <a:p>
            <a:pPr algn="l">
              <a:lnSpc>
                <a:spcPts val="2544"/>
              </a:lnSpc>
              <a:spcBef>
                <a:spcPct val="0"/>
              </a:spcBef>
            </a:pPr>
            <a:endParaRPr lang="en-US" sz="2400">
              <a:solidFill>
                <a:srgbClr val="FFFFFF"/>
              </a:solidFill>
              <a:latin typeface="Raleway"/>
              <a:ea typeface="Raleway"/>
              <a:cs typeface="Raleway"/>
              <a:sym typeface="Raleway"/>
            </a:endParaRPr>
          </a:p>
          <a:p>
            <a:pPr algn="l">
              <a:lnSpc>
                <a:spcPts val="2544"/>
              </a:lnSpc>
              <a:spcBef>
                <a:spcPct val="0"/>
              </a:spcBef>
            </a:pPr>
            <a:r>
              <a:rPr lang="en-US" sz="2400" b="1">
                <a:solidFill>
                  <a:srgbClr val="FFFFFF"/>
                </a:solidFill>
                <a:latin typeface="Raleway Bold"/>
                <a:ea typeface="Raleway Bold"/>
                <a:cs typeface="Raleway Bold"/>
                <a:sym typeface="Raleway Bold"/>
              </a:rPr>
              <a:t>FINAL CLASSIFICATION</a:t>
            </a:r>
          </a:p>
          <a:p>
            <a:pPr algn="l">
              <a:lnSpc>
                <a:spcPts val="2544"/>
              </a:lnSpc>
              <a:spcBef>
                <a:spcPct val="0"/>
              </a:spcBef>
            </a:pPr>
            <a:r>
              <a:rPr lang="en-US" sz="2400">
                <a:solidFill>
                  <a:srgbClr val="FFFFFF"/>
                </a:solidFill>
                <a:latin typeface="Raleway"/>
                <a:ea typeface="Raleway"/>
                <a:cs typeface="Raleway"/>
                <a:sym typeface="Raleway"/>
              </a:rPr>
              <a:t>Comments categorized into Low, Moderate, and High toxicity levels.</a:t>
            </a:r>
          </a:p>
          <a:p>
            <a:pPr algn="l">
              <a:lnSpc>
                <a:spcPts val="2544"/>
              </a:lnSpc>
              <a:spcBef>
                <a:spcPct val="0"/>
              </a:spcBef>
            </a:pPr>
            <a:endParaRPr lang="en-US" sz="2400">
              <a:solidFill>
                <a:srgbClr val="FFFFFF"/>
              </a:solidFill>
              <a:latin typeface="Raleway"/>
              <a:ea typeface="Raleway"/>
              <a:cs typeface="Raleway"/>
              <a:sym typeface="Raleway"/>
            </a:endParaRPr>
          </a:p>
          <a:p>
            <a:pPr algn="l">
              <a:lnSpc>
                <a:spcPts val="2544"/>
              </a:lnSpc>
              <a:spcBef>
                <a:spcPct val="0"/>
              </a:spcBef>
            </a:pPr>
            <a:r>
              <a:rPr lang="en-US" sz="2400" b="1">
                <a:solidFill>
                  <a:srgbClr val="FFFFFF"/>
                </a:solidFill>
                <a:latin typeface="Raleway Bold"/>
                <a:ea typeface="Raleway Bold"/>
                <a:cs typeface="Raleway Bold"/>
                <a:sym typeface="Raleway Bold"/>
              </a:rPr>
              <a:t>MODEL TRAINING</a:t>
            </a:r>
          </a:p>
          <a:p>
            <a:pPr algn="l">
              <a:lnSpc>
                <a:spcPts val="2544"/>
              </a:lnSpc>
              <a:spcBef>
                <a:spcPct val="0"/>
              </a:spcBef>
            </a:pPr>
            <a:r>
              <a:rPr lang="en-US" sz="2400">
                <a:solidFill>
                  <a:srgbClr val="FFFFFF"/>
                </a:solidFill>
                <a:latin typeface="Raleway"/>
                <a:ea typeface="Raleway"/>
                <a:cs typeface="Raleway"/>
                <a:sym typeface="Raleway"/>
              </a:rPr>
              <a:t>Model fine-tuned using XLM-RoBERTa for improved real-world performance.</a:t>
            </a:r>
          </a:p>
          <a:p>
            <a:pPr algn="l">
              <a:lnSpc>
                <a:spcPts val="2544"/>
              </a:lnSpc>
              <a:spcBef>
                <a:spcPct val="0"/>
              </a:spcBef>
            </a:pPr>
            <a:endParaRPr lang="en-US" sz="2400">
              <a:solidFill>
                <a:srgbClr val="FFFFFF"/>
              </a:solidFill>
              <a:latin typeface="Raleway"/>
              <a:ea typeface="Raleway"/>
              <a:cs typeface="Raleway"/>
              <a:sym typeface="Raleway"/>
            </a:endParaRPr>
          </a:p>
        </p:txBody>
      </p:sp>
      <p:sp>
        <p:nvSpPr>
          <p:cNvPr id="8" name="Freeform 8"/>
          <p:cNvSpPr/>
          <p:nvPr/>
        </p:nvSpPr>
        <p:spPr>
          <a:xfrm>
            <a:off x="10951778" y="3002514"/>
            <a:ext cx="5598113" cy="5496329"/>
          </a:xfrm>
          <a:custGeom>
            <a:avLst/>
            <a:gdLst/>
            <a:ahLst/>
            <a:cxnLst/>
            <a:rect l="l" t="t" r="r" b="b"/>
            <a:pathLst>
              <a:path w="5598113" h="5496329">
                <a:moveTo>
                  <a:pt x="0" y="0"/>
                </a:moveTo>
                <a:lnTo>
                  <a:pt x="5598114" y="0"/>
                </a:lnTo>
                <a:lnTo>
                  <a:pt x="5598114" y="5496329"/>
                </a:lnTo>
                <a:lnTo>
                  <a:pt x="0" y="5496329"/>
                </a:lnTo>
                <a:lnTo>
                  <a:pt x="0" y="0"/>
                </a:lnTo>
                <a:close/>
              </a:path>
            </a:pathLst>
          </a:custGeom>
          <a:blipFill>
            <a:blip>
              <a:alphaModFix amt="68000"/>
              <a:extLst>
                <a:ext uri="{96DAC541-7B7A-43D3-8B79-37D633B846F1}">
                  <asvg:svgBlip xmlns:asvg="http://schemas.microsoft.com/office/drawing/2016/SVG/main" r:embed="rId3"/>
                </a:ext>
              </a:extLst>
            </a:blip>
            <a:stretch>
              <a:fillRect/>
            </a:stretch>
          </a:blipFill>
        </p:spPr>
      </p:sp>
      <p:grpSp>
        <p:nvGrpSpPr>
          <p:cNvPr id="9" name="Group 9"/>
          <p:cNvGrpSpPr>
            <a:grpSpLocks noChangeAspect="1"/>
          </p:cNvGrpSpPr>
          <p:nvPr/>
        </p:nvGrpSpPr>
        <p:grpSpPr>
          <a:xfrm>
            <a:off x="11928700" y="3822489"/>
            <a:ext cx="3845390" cy="3845390"/>
            <a:chOff x="0" y="0"/>
            <a:chExt cx="14840029" cy="14840029"/>
          </a:xfrm>
        </p:grpSpPr>
        <p:sp>
          <p:nvSpPr>
            <p:cNvPr id="10" name="Freeform 10"/>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11" name="Freeform 11"/>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2" name="Freeform 12"/>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9643" r="-29643"/>
              </a:stretch>
            </a:blipFill>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5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711939" y="976997"/>
            <a:ext cx="742265" cy="742265"/>
          </a:xfrm>
          <a:custGeom>
            <a:avLst/>
            <a:gdLst/>
            <a:ahLst/>
            <a:cxnLst/>
            <a:rect l="l" t="t" r="r" b="b"/>
            <a:pathLst>
              <a:path w="742265" h="742265">
                <a:moveTo>
                  <a:pt x="0" y="0"/>
                </a:moveTo>
                <a:lnTo>
                  <a:pt x="742264" y="0"/>
                </a:lnTo>
                <a:lnTo>
                  <a:pt x="742264" y="742264"/>
                </a:lnTo>
                <a:lnTo>
                  <a:pt x="0" y="7422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603994" y="3565142"/>
            <a:ext cx="8540006" cy="1194785"/>
          </a:xfrm>
          <a:custGeom>
            <a:avLst/>
            <a:gdLst/>
            <a:ahLst/>
            <a:cxnLst/>
            <a:rect l="l" t="t" r="r" b="b"/>
            <a:pathLst>
              <a:path w="8540006" h="1194785">
                <a:moveTo>
                  <a:pt x="0" y="0"/>
                </a:moveTo>
                <a:lnTo>
                  <a:pt x="8540006" y="0"/>
                </a:lnTo>
                <a:lnTo>
                  <a:pt x="8540006" y="1194785"/>
                </a:lnTo>
                <a:lnTo>
                  <a:pt x="0" y="1194785"/>
                </a:lnTo>
                <a:lnTo>
                  <a:pt x="0" y="0"/>
                </a:lnTo>
                <a:close/>
              </a:path>
            </a:pathLst>
          </a:custGeom>
          <a:blipFill>
            <a:blip r:embed="rId4"/>
            <a:stretch>
              <a:fillRect t="-8407" r="-572" b="-8407"/>
            </a:stretch>
          </a:blipFill>
        </p:spPr>
      </p:sp>
      <p:sp>
        <p:nvSpPr>
          <p:cNvPr id="6" name="Freeform 6"/>
          <p:cNvSpPr/>
          <p:nvPr/>
        </p:nvSpPr>
        <p:spPr>
          <a:xfrm>
            <a:off x="10141857" y="3565142"/>
            <a:ext cx="7860534" cy="1194785"/>
          </a:xfrm>
          <a:custGeom>
            <a:avLst/>
            <a:gdLst/>
            <a:ahLst/>
            <a:cxnLst/>
            <a:rect l="l" t="t" r="r" b="b"/>
            <a:pathLst>
              <a:path w="7860534" h="1194785">
                <a:moveTo>
                  <a:pt x="0" y="0"/>
                </a:moveTo>
                <a:lnTo>
                  <a:pt x="7860534" y="0"/>
                </a:lnTo>
                <a:lnTo>
                  <a:pt x="7860534" y="1194785"/>
                </a:lnTo>
                <a:lnTo>
                  <a:pt x="0" y="1194785"/>
                </a:lnTo>
                <a:lnTo>
                  <a:pt x="0" y="0"/>
                </a:lnTo>
                <a:close/>
              </a:path>
            </a:pathLst>
          </a:custGeom>
          <a:blipFill>
            <a:blip r:embed="rId5"/>
            <a:stretch>
              <a:fillRect t="-2221" b="-2221"/>
            </a:stretch>
          </a:blipFill>
        </p:spPr>
      </p:sp>
      <p:sp>
        <p:nvSpPr>
          <p:cNvPr id="7" name="Freeform 7"/>
          <p:cNvSpPr/>
          <p:nvPr/>
        </p:nvSpPr>
        <p:spPr>
          <a:xfrm>
            <a:off x="603994" y="8624193"/>
            <a:ext cx="7613950" cy="1234691"/>
          </a:xfrm>
          <a:custGeom>
            <a:avLst/>
            <a:gdLst/>
            <a:ahLst/>
            <a:cxnLst/>
            <a:rect l="l" t="t" r="r" b="b"/>
            <a:pathLst>
              <a:path w="7613950" h="1234691">
                <a:moveTo>
                  <a:pt x="0" y="0"/>
                </a:moveTo>
                <a:lnTo>
                  <a:pt x="7613950" y="0"/>
                </a:lnTo>
                <a:lnTo>
                  <a:pt x="7613950" y="1234691"/>
                </a:lnTo>
                <a:lnTo>
                  <a:pt x="0" y="1234691"/>
                </a:lnTo>
                <a:lnTo>
                  <a:pt x="0" y="0"/>
                </a:lnTo>
                <a:close/>
              </a:path>
            </a:pathLst>
          </a:custGeom>
          <a:blipFill>
            <a:blip r:embed="rId6"/>
            <a:stretch>
              <a:fillRect t="-2416" b="-2416"/>
            </a:stretch>
          </a:blipFill>
        </p:spPr>
      </p:sp>
      <p:sp>
        <p:nvSpPr>
          <p:cNvPr id="8" name="Freeform 8"/>
          <p:cNvSpPr/>
          <p:nvPr/>
        </p:nvSpPr>
        <p:spPr>
          <a:xfrm>
            <a:off x="10141857" y="8624193"/>
            <a:ext cx="7602008" cy="1201139"/>
          </a:xfrm>
          <a:custGeom>
            <a:avLst/>
            <a:gdLst/>
            <a:ahLst/>
            <a:cxnLst/>
            <a:rect l="l" t="t" r="r" b="b"/>
            <a:pathLst>
              <a:path w="7602008" h="1201139">
                <a:moveTo>
                  <a:pt x="0" y="0"/>
                </a:moveTo>
                <a:lnTo>
                  <a:pt x="7602009" y="0"/>
                </a:lnTo>
                <a:lnTo>
                  <a:pt x="7602009" y="1201139"/>
                </a:lnTo>
                <a:lnTo>
                  <a:pt x="0" y="1201139"/>
                </a:lnTo>
                <a:lnTo>
                  <a:pt x="0" y="0"/>
                </a:lnTo>
                <a:close/>
              </a:path>
            </a:pathLst>
          </a:custGeom>
          <a:blipFill>
            <a:blip r:embed="rId7"/>
            <a:stretch>
              <a:fillRect r="-1937"/>
            </a:stretch>
          </a:blipFill>
        </p:spPr>
      </p:sp>
      <p:sp>
        <p:nvSpPr>
          <p:cNvPr id="9" name="Freeform 9"/>
          <p:cNvSpPr/>
          <p:nvPr/>
        </p:nvSpPr>
        <p:spPr>
          <a:xfrm>
            <a:off x="603994" y="5083144"/>
            <a:ext cx="7613950" cy="1284854"/>
          </a:xfrm>
          <a:custGeom>
            <a:avLst/>
            <a:gdLst/>
            <a:ahLst/>
            <a:cxnLst/>
            <a:rect l="l" t="t" r="r" b="b"/>
            <a:pathLst>
              <a:path w="7613950" h="1284854">
                <a:moveTo>
                  <a:pt x="0" y="0"/>
                </a:moveTo>
                <a:lnTo>
                  <a:pt x="7613950" y="0"/>
                </a:lnTo>
                <a:lnTo>
                  <a:pt x="7613950" y="1284854"/>
                </a:lnTo>
                <a:lnTo>
                  <a:pt x="0" y="1284854"/>
                </a:lnTo>
                <a:lnTo>
                  <a:pt x="0" y="0"/>
                </a:lnTo>
                <a:close/>
              </a:path>
            </a:pathLst>
          </a:custGeom>
          <a:blipFill>
            <a:blip r:embed="rId8"/>
            <a:stretch>
              <a:fillRect/>
            </a:stretch>
          </a:blipFill>
        </p:spPr>
      </p:sp>
      <p:sp>
        <p:nvSpPr>
          <p:cNvPr id="10" name="Freeform 10"/>
          <p:cNvSpPr/>
          <p:nvPr/>
        </p:nvSpPr>
        <p:spPr>
          <a:xfrm>
            <a:off x="10196655" y="5143500"/>
            <a:ext cx="7602008" cy="1046339"/>
          </a:xfrm>
          <a:custGeom>
            <a:avLst/>
            <a:gdLst/>
            <a:ahLst/>
            <a:cxnLst/>
            <a:rect l="l" t="t" r="r" b="b"/>
            <a:pathLst>
              <a:path w="7602008" h="1046339">
                <a:moveTo>
                  <a:pt x="0" y="0"/>
                </a:moveTo>
                <a:lnTo>
                  <a:pt x="7602008" y="0"/>
                </a:lnTo>
                <a:lnTo>
                  <a:pt x="7602008" y="1046339"/>
                </a:lnTo>
                <a:lnTo>
                  <a:pt x="0" y="1046339"/>
                </a:lnTo>
                <a:lnTo>
                  <a:pt x="0" y="0"/>
                </a:lnTo>
                <a:close/>
              </a:path>
            </a:pathLst>
          </a:custGeom>
          <a:blipFill>
            <a:blip r:embed="rId9"/>
            <a:stretch>
              <a:fillRect t="-2227" b="-7660"/>
            </a:stretch>
          </a:blipFill>
        </p:spPr>
      </p:sp>
      <p:sp>
        <p:nvSpPr>
          <p:cNvPr id="11" name="Freeform 11"/>
          <p:cNvSpPr/>
          <p:nvPr/>
        </p:nvSpPr>
        <p:spPr>
          <a:xfrm>
            <a:off x="603994" y="6691215"/>
            <a:ext cx="7613950" cy="1328356"/>
          </a:xfrm>
          <a:custGeom>
            <a:avLst/>
            <a:gdLst/>
            <a:ahLst/>
            <a:cxnLst/>
            <a:rect l="l" t="t" r="r" b="b"/>
            <a:pathLst>
              <a:path w="7613950" h="1328356">
                <a:moveTo>
                  <a:pt x="0" y="0"/>
                </a:moveTo>
                <a:lnTo>
                  <a:pt x="7613950" y="0"/>
                </a:lnTo>
                <a:lnTo>
                  <a:pt x="7613950" y="1328356"/>
                </a:lnTo>
                <a:lnTo>
                  <a:pt x="0" y="1328356"/>
                </a:lnTo>
                <a:lnTo>
                  <a:pt x="0" y="0"/>
                </a:lnTo>
                <a:close/>
              </a:path>
            </a:pathLst>
          </a:custGeom>
          <a:blipFill>
            <a:blip r:embed="rId10"/>
            <a:stretch>
              <a:fillRect r="-6542"/>
            </a:stretch>
          </a:blipFill>
        </p:spPr>
      </p:sp>
      <p:sp>
        <p:nvSpPr>
          <p:cNvPr id="12" name="Freeform 12"/>
          <p:cNvSpPr/>
          <p:nvPr/>
        </p:nvSpPr>
        <p:spPr>
          <a:xfrm>
            <a:off x="10141857" y="6691215"/>
            <a:ext cx="7602008" cy="1229657"/>
          </a:xfrm>
          <a:custGeom>
            <a:avLst/>
            <a:gdLst/>
            <a:ahLst/>
            <a:cxnLst/>
            <a:rect l="l" t="t" r="r" b="b"/>
            <a:pathLst>
              <a:path w="7602008" h="1229657">
                <a:moveTo>
                  <a:pt x="0" y="0"/>
                </a:moveTo>
                <a:lnTo>
                  <a:pt x="7602009" y="0"/>
                </a:lnTo>
                <a:lnTo>
                  <a:pt x="7602009" y="1229656"/>
                </a:lnTo>
                <a:lnTo>
                  <a:pt x="0" y="1229656"/>
                </a:lnTo>
                <a:lnTo>
                  <a:pt x="0" y="0"/>
                </a:lnTo>
                <a:close/>
              </a:path>
            </a:pathLst>
          </a:custGeom>
          <a:blipFill>
            <a:blip r:embed="rId11"/>
            <a:stretch>
              <a:fillRect r="-1892"/>
            </a:stretch>
          </a:blipFill>
        </p:spPr>
      </p:sp>
      <p:sp>
        <p:nvSpPr>
          <p:cNvPr id="13" name="Freeform 13"/>
          <p:cNvSpPr/>
          <p:nvPr/>
        </p:nvSpPr>
        <p:spPr>
          <a:xfrm>
            <a:off x="603994" y="2954482"/>
            <a:ext cx="8004297" cy="432623"/>
          </a:xfrm>
          <a:custGeom>
            <a:avLst/>
            <a:gdLst/>
            <a:ahLst/>
            <a:cxnLst/>
            <a:rect l="l" t="t" r="r" b="b"/>
            <a:pathLst>
              <a:path w="8004297" h="432623">
                <a:moveTo>
                  <a:pt x="0" y="0"/>
                </a:moveTo>
                <a:lnTo>
                  <a:pt x="8004297" y="0"/>
                </a:lnTo>
                <a:lnTo>
                  <a:pt x="8004297" y="432623"/>
                </a:lnTo>
                <a:lnTo>
                  <a:pt x="0" y="432623"/>
                </a:lnTo>
                <a:lnTo>
                  <a:pt x="0" y="0"/>
                </a:lnTo>
                <a:close/>
              </a:path>
            </a:pathLst>
          </a:custGeom>
          <a:blipFill>
            <a:blip r:embed="rId12"/>
            <a:stretch>
              <a:fillRect t="-21933" r="-14614"/>
            </a:stretch>
          </a:blipFill>
        </p:spPr>
      </p:sp>
      <p:sp>
        <p:nvSpPr>
          <p:cNvPr id="14" name="Freeform 14"/>
          <p:cNvSpPr/>
          <p:nvPr/>
        </p:nvSpPr>
        <p:spPr>
          <a:xfrm>
            <a:off x="10148677" y="2930274"/>
            <a:ext cx="7595189" cy="465205"/>
          </a:xfrm>
          <a:custGeom>
            <a:avLst/>
            <a:gdLst/>
            <a:ahLst/>
            <a:cxnLst/>
            <a:rect l="l" t="t" r="r" b="b"/>
            <a:pathLst>
              <a:path w="7595189" h="465205">
                <a:moveTo>
                  <a:pt x="0" y="0"/>
                </a:moveTo>
                <a:lnTo>
                  <a:pt x="7595189" y="0"/>
                </a:lnTo>
                <a:lnTo>
                  <a:pt x="7595189" y="465205"/>
                </a:lnTo>
                <a:lnTo>
                  <a:pt x="0" y="465205"/>
                </a:lnTo>
                <a:lnTo>
                  <a:pt x="0" y="0"/>
                </a:lnTo>
                <a:close/>
              </a:path>
            </a:pathLst>
          </a:custGeom>
          <a:blipFill>
            <a:blip r:embed="rId13"/>
            <a:stretch>
              <a:fillRect/>
            </a:stretch>
          </a:blipFill>
        </p:spPr>
      </p:sp>
      <p:sp>
        <p:nvSpPr>
          <p:cNvPr id="15" name="TextBox 15"/>
          <p:cNvSpPr txBox="1"/>
          <p:nvPr/>
        </p:nvSpPr>
        <p:spPr>
          <a:xfrm>
            <a:off x="4993323" y="702652"/>
            <a:ext cx="8301354"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TEST </a:t>
            </a:r>
            <a:r>
              <a:rPr lang="en-US" sz="8430" b="1">
                <a:solidFill>
                  <a:srgbClr val="FFFFFF"/>
                </a:solidFill>
                <a:latin typeface="TT Lakes Neue Bold"/>
                <a:ea typeface="TT Lakes Neue Bold"/>
                <a:cs typeface="TT Lakes Neue Bold"/>
                <a:sym typeface="TT Lakes Neue Bold"/>
              </a:rPr>
              <a:t>CASES</a:t>
            </a:r>
          </a:p>
        </p:txBody>
      </p:sp>
      <p:sp>
        <p:nvSpPr>
          <p:cNvPr id="16" name="TextBox 16"/>
          <p:cNvSpPr txBox="1"/>
          <p:nvPr/>
        </p:nvSpPr>
        <p:spPr>
          <a:xfrm>
            <a:off x="603994" y="2357436"/>
            <a:ext cx="8301354" cy="502158"/>
          </a:xfrm>
          <a:prstGeom prst="rect">
            <a:avLst/>
          </a:prstGeom>
        </p:spPr>
        <p:txBody>
          <a:bodyPr wrap="square" lIns="0" tIns="0" rIns="0" bIns="0" rtlCol="0" anchor="t">
            <a:spAutoFit/>
          </a:bodyPr>
          <a:lstStyle/>
          <a:p>
            <a:pPr algn="l">
              <a:lnSpc>
                <a:spcPts val="3816"/>
              </a:lnSpc>
              <a:spcBef>
                <a:spcPct val="0"/>
              </a:spcBef>
            </a:pPr>
            <a:r>
              <a:rPr lang="en-US" sz="3600" b="1" dirty="0">
                <a:solidFill>
                  <a:srgbClr val="FFFFFF"/>
                </a:solidFill>
                <a:latin typeface="TT Lakes Neue Bold"/>
                <a:ea typeface="TT Lakes Neue Bold"/>
                <a:cs typeface="TT Lakes Neue Bold"/>
                <a:sym typeface="TT Lakes Neue Bold"/>
              </a:rPr>
              <a:t>BEFORE TRAINING THE AI MODEL</a:t>
            </a:r>
          </a:p>
        </p:txBody>
      </p:sp>
      <p:sp>
        <p:nvSpPr>
          <p:cNvPr id="17" name="TextBox 17"/>
          <p:cNvSpPr txBox="1"/>
          <p:nvPr/>
        </p:nvSpPr>
        <p:spPr>
          <a:xfrm>
            <a:off x="10141857" y="2357436"/>
            <a:ext cx="7860534" cy="502158"/>
          </a:xfrm>
          <a:prstGeom prst="rect">
            <a:avLst/>
          </a:prstGeom>
        </p:spPr>
        <p:txBody>
          <a:bodyPr wrap="square" lIns="0" tIns="0" rIns="0" bIns="0" rtlCol="0" anchor="t">
            <a:spAutoFit/>
          </a:bodyPr>
          <a:lstStyle/>
          <a:p>
            <a:pPr algn="l">
              <a:lnSpc>
                <a:spcPts val="3816"/>
              </a:lnSpc>
              <a:spcBef>
                <a:spcPct val="0"/>
              </a:spcBef>
            </a:pPr>
            <a:r>
              <a:rPr lang="en-US" sz="3600" b="1" dirty="0">
                <a:solidFill>
                  <a:srgbClr val="FFFFFF"/>
                </a:solidFill>
                <a:latin typeface="TT Lakes Neue Bold"/>
                <a:ea typeface="TT Lakes Neue Bold"/>
                <a:cs typeface="TT Lakes Neue Bold"/>
                <a:sym typeface="TT Lakes Neue Bold"/>
              </a:rPr>
              <a:t>AFTER TRAINING THE AI MODEL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5" name="Freeform 5"/>
          <p:cNvSpPr/>
          <p:nvPr/>
        </p:nvSpPr>
        <p:spPr>
          <a:xfrm>
            <a:off x="9483333" y="2470845"/>
            <a:ext cx="7801367" cy="6507795"/>
          </a:xfrm>
          <a:custGeom>
            <a:avLst/>
            <a:gdLst/>
            <a:ahLst/>
            <a:cxnLst/>
            <a:rect l="l" t="t" r="r" b="b"/>
            <a:pathLst>
              <a:path w="8722916" h="7250924">
                <a:moveTo>
                  <a:pt x="0" y="0"/>
                </a:moveTo>
                <a:lnTo>
                  <a:pt x="8722916" y="0"/>
                </a:lnTo>
                <a:lnTo>
                  <a:pt x="8722916" y="7250924"/>
                </a:lnTo>
                <a:lnTo>
                  <a:pt x="0" y="7250924"/>
                </a:lnTo>
                <a:lnTo>
                  <a:pt x="0" y="0"/>
                </a:lnTo>
                <a:close/>
              </a:path>
            </a:pathLst>
          </a:custGeom>
          <a:blipFill>
            <a:blip r:embed="rId4"/>
            <a:stretch>
              <a:fillRect/>
            </a:stretch>
          </a:blipFill>
        </p:spPr>
      </p:sp>
      <p:sp>
        <p:nvSpPr>
          <p:cNvPr id="6" name="TextBox 6"/>
          <p:cNvSpPr txBox="1"/>
          <p:nvPr/>
        </p:nvSpPr>
        <p:spPr>
          <a:xfrm>
            <a:off x="3039870" y="1150298"/>
            <a:ext cx="12208261" cy="1169067"/>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MODEL </a:t>
            </a:r>
            <a:r>
              <a:rPr lang="en-US" sz="8430" b="1">
                <a:solidFill>
                  <a:srgbClr val="FFFFFF"/>
                </a:solidFill>
                <a:latin typeface="TT Lakes Neue Bold"/>
                <a:ea typeface="TT Lakes Neue Bold"/>
                <a:cs typeface="TT Lakes Neue Bold"/>
                <a:sym typeface="TT Lakes Neue Bold"/>
              </a:rPr>
              <a:t>EVALUATION</a:t>
            </a:r>
          </a:p>
        </p:txBody>
      </p:sp>
      <p:sp>
        <p:nvSpPr>
          <p:cNvPr id="7" name="TextBox 7"/>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8" name="Rectangle 1">
            <a:extLst>
              <a:ext uri="{FF2B5EF4-FFF2-40B4-BE49-F238E27FC236}">
                <a16:creationId xmlns:a16="http://schemas.microsoft.com/office/drawing/2014/main" id="{DFFC3675-46F1-3363-582F-B18F8DFB94C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6" name="Picture 15">
            <a:extLst>
              <a:ext uri="{FF2B5EF4-FFF2-40B4-BE49-F238E27FC236}">
                <a16:creationId xmlns:a16="http://schemas.microsoft.com/office/drawing/2014/main" id="{87810DCA-DCA9-811C-98C1-79C66D991C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2800915"/>
            <a:ext cx="7886204" cy="584765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733572" y="1150298"/>
            <a:ext cx="6798762"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IMPACTS</a:t>
            </a:r>
          </a:p>
        </p:txBody>
      </p:sp>
      <p:sp>
        <p:nvSpPr>
          <p:cNvPr id="4" name="TextBox 4"/>
          <p:cNvSpPr txBox="1"/>
          <p:nvPr/>
        </p:nvSpPr>
        <p:spPr>
          <a:xfrm>
            <a:off x="15840483" y="1043276"/>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 </a:t>
            </a:r>
          </a:p>
        </p:txBody>
      </p:sp>
      <p:sp>
        <p:nvSpPr>
          <p:cNvPr id="5" name="Freeform 5"/>
          <p:cNvSpPr/>
          <p:nvPr/>
        </p:nvSpPr>
        <p:spPr>
          <a:xfrm>
            <a:off x="1926455" y="3306669"/>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326342" y="3624855"/>
            <a:ext cx="283352" cy="370969"/>
          </a:xfrm>
          <a:prstGeom prst="rect">
            <a:avLst/>
          </a:prstGeom>
        </p:spPr>
        <p:txBody>
          <a:bodyPr lIns="0" tIns="0" rIns="0" bIns="0" rtlCol="0" anchor="t">
            <a:spAutoFit/>
          </a:bodyPr>
          <a:lstStyle/>
          <a:p>
            <a:pPr algn="l">
              <a:lnSpc>
                <a:spcPts val="2809"/>
              </a:lnSpc>
              <a:spcBef>
                <a:spcPct val="0"/>
              </a:spcBef>
            </a:pPr>
            <a:r>
              <a:rPr lang="en-US" sz="2650">
                <a:solidFill>
                  <a:srgbClr val="FFFFFF"/>
                </a:solidFill>
                <a:latin typeface="TT Lakes Neue"/>
                <a:ea typeface="TT Lakes Neue"/>
                <a:cs typeface="TT Lakes Neue"/>
                <a:sym typeface="TT Lakes Neue"/>
              </a:rPr>
              <a:t>1.</a:t>
            </a:r>
          </a:p>
        </p:txBody>
      </p:sp>
      <p:sp>
        <p:nvSpPr>
          <p:cNvPr id="7" name="TextBox 7"/>
          <p:cNvSpPr txBox="1"/>
          <p:nvPr/>
        </p:nvSpPr>
        <p:spPr>
          <a:xfrm>
            <a:off x="3082109" y="3599425"/>
            <a:ext cx="3811192" cy="412323"/>
          </a:xfrm>
          <a:prstGeom prst="rect">
            <a:avLst/>
          </a:prstGeom>
        </p:spPr>
        <p:txBody>
          <a:bodyPr lIns="0" tIns="0" rIns="0" bIns="0" rtlCol="0" anchor="t">
            <a:spAutoFit/>
          </a:bodyPr>
          <a:lstStyle/>
          <a:p>
            <a:pPr algn="l">
              <a:lnSpc>
                <a:spcPts val="3003"/>
              </a:lnSpc>
              <a:spcBef>
                <a:spcPct val="0"/>
              </a:spcBef>
            </a:pPr>
            <a:r>
              <a:rPr lang="en-US" sz="2833" b="1">
                <a:solidFill>
                  <a:srgbClr val="FFFFFF"/>
                </a:solidFill>
                <a:latin typeface="Raleway Bold"/>
                <a:ea typeface="Raleway Bold"/>
                <a:cs typeface="Raleway Bold"/>
                <a:sym typeface="Raleway Bold"/>
              </a:rPr>
              <a:t>SOCIETAL</a:t>
            </a:r>
          </a:p>
        </p:txBody>
      </p:sp>
      <p:sp>
        <p:nvSpPr>
          <p:cNvPr id="8" name="Freeform 8"/>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2609693" y="4196808"/>
            <a:ext cx="5908343" cy="3001823"/>
          </a:xfrm>
          <a:prstGeom prst="rect">
            <a:avLst/>
          </a:prstGeom>
        </p:spPr>
        <p:txBody>
          <a:bodyPr lIns="0" tIns="0" rIns="0" bIns="0" rtlCol="0" anchor="t">
            <a:spAutoFit/>
          </a:bodyPr>
          <a:lstStyle/>
          <a:p>
            <a:pPr marL="595881" lvl="1" indent="-297940" algn="l">
              <a:lnSpc>
                <a:spcPts val="2925"/>
              </a:lnSpc>
              <a:buFont typeface="Arial"/>
              <a:buChar char="•"/>
            </a:pPr>
            <a:r>
              <a:rPr lang="en-US" sz="2759" b="1">
                <a:solidFill>
                  <a:srgbClr val="FFFFFF"/>
                </a:solidFill>
                <a:latin typeface="Raleway Semi-Bold"/>
                <a:ea typeface="Raleway Semi-Bold"/>
                <a:cs typeface="Raleway Semi-Bold"/>
                <a:sym typeface="Raleway Semi-Bold"/>
              </a:rPr>
              <a:t>Promotes safe and inclusive online spaces by detecting toxicity across multiple languages.</a:t>
            </a:r>
          </a:p>
          <a:p>
            <a:pPr algn="l">
              <a:lnSpc>
                <a:spcPts val="2925"/>
              </a:lnSpc>
            </a:pPr>
            <a:endParaRPr lang="en-US" sz="2759" b="1">
              <a:solidFill>
                <a:srgbClr val="FFFFFF"/>
              </a:solidFill>
              <a:latin typeface="Raleway Semi-Bold"/>
              <a:ea typeface="Raleway Semi-Bold"/>
              <a:cs typeface="Raleway Semi-Bold"/>
              <a:sym typeface="Raleway Semi-Bold"/>
            </a:endParaRPr>
          </a:p>
          <a:p>
            <a:pPr marL="595881" lvl="1" indent="-297940" algn="l">
              <a:lnSpc>
                <a:spcPts val="2925"/>
              </a:lnSpc>
              <a:buFont typeface="Arial"/>
              <a:buChar char="•"/>
            </a:pPr>
            <a:r>
              <a:rPr lang="en-US" sz="2759" b="1">
                <a:solidFill>
                  <a:srgbClr val="FFFFFF"/>
                </a:solidFill>
                <a:latin typeface="Raleway Semi-Bold"/>
                <a:ea typeface="Raleway Semi-Bold"/>
                <a:cs typeface="Raleway Semi-Bold"/>
                <a:sym typeface="Raleway Semi-Bold"/>
              </a:rPr>
              <a:t>Protects users’ mental health and encourages respectful digital interactions.</a:t>
            </a:r>
          </a:p>
        </p:txBody>
      </p:sp>
      <p:sp>
        <p:nvSpPr>
          <p:cNvPr id="10" name="TextBox 10"/>
          <p:cNvSpPr txBox="1"/>
          <p:nvPr/>
        </p:nvSpPr>
        <p:spPr>
          <a:xfrm>
            <a:off x="10087513" y="3608950"/>
            <a:ext cx="298655" cy="370969"/>
          </a:xfrm>
          <a:prstGeom prst="rect">
            <a:avLst/>
          </a:prstGeom>
        </p:spPr>
        <p:txBody>
          <a:bodyPr lIns="0" tIns="0" rIns="0" bIns="0" rtlCol="0" anchor="t">
            <a:spAutoFit/>
          </a:bodyPr>
          <a:lstStyle/>
          <a:p>
            <a:pPr algn="l">
              <a:lnSpc>
                <a:spcPts val="2809"/>
              </a:lnSpc>
              <a:spcBef>
                <a:spcPct val="0"/>
              </a:spcBef>
            </a:pPr>
            <a:r>
              <a:rPr lang="en-US" sz="2650">
                <a:solidFill>
                  <a:srgbClr val="FFFFFF"/>
                </a:solidFill>
                <a:latin typeface="TT Lakes Neue"/>
                <a:ea typeface="TT Lakes Neue"/>
                <a:cs typeface="TT Lakes Neue"/>
                <a:sym typeface="TT Lakes Neue"/>
              </a:rPr>
              <a:t>2.</a:t>
            </a:r>
          </a:p>
        </p:txBody>
      </p:sp>
      <p:sp>
        <p:nvSpPr>
          <p:cNvPr id="11" name="Freeform 11"/>
          <p:cNvSpPr/>
          <p:nvPr/>
        </p:nvSpPr>
        <p:spPr>
          <a:xfrm>
            <a:off x="9793230" y="3306669"/>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1104469" y="3599425"/>
            <a:ext cx="5257077" cy="412323"/>
          </a:xfrm>
          <a:prstGeom prst="rect">
            <a:avLst/>
          </a:prstGeom>
        </p:spPr>
        <p:txBody>
          <a:bodyPr lIns="0" tIns="0" rIns="0" bIns="0" rtlCol="0" anchor="t">
            <a:spAutoFit/>
          </a:bodyPr>
          <a:lstStyle/>
          <a:p>
            <a:pPr algn="l">
              <a:lnSpc>
                <a:spcPts val="3003"/>
              </a:lnSpc>
              <a:spcBef>
                <a:spcPct val="0"/>
              </a:spcBef>
            </a:pPr>
            <a:r>
              <a:rPr lang="en-US" sz="2833" b="1">
                <a:solidFill>
                  <a:srgbClr val="FFFFFF"/>
                </a:solidFill>
                <a:latin typeface="Raleway Bold"/>
                <a:ea typeface="Raleway Bold"/>
                <a:cs typeface="Raleway Bold"/>
                <a:sym typeface="Raleway Bold"/>
              </a:rPr>
              <a:t>ENVIRONMENTAL</a:t>
            </a:r>
          </a:p>
        </p:txBody>
      </p:sp>
      <p:sp>
        <p:nvSpPr>
          <p:cNvPr id="13" name="TextBox 13"/>
          <p:cNvSpPr txBox="1"/>
          <p:nvPr/>
        </p:nvSpPr>
        <p:spPr>
          <a:xfrm>
            <a:off x="10680450" y="4196808"/>
            <a:ext cx="6039840" cy="2563637"/>
          </a:xfrm>
          <a:prstGeom prst="rect">
            <a:avLst/>
          </a:prstGeom>
        </p:spPr>
        <p:txBody>
          <a:bodyPr lIns="0" tIns="0" rIns="0" bIns="0" rtlCol="0" anchor="t">
            <a:spAutoFit/>
          </a:bodyPr>
          <a:lstStyle/>
          <a:p>
            <a:pPr marL="595448" lvl="1" indent="-297724" algn="l">
              <a:lnSpc>
                <a:spcPts val="2923"/>
              </a:lnSpc>
              <a:buFont typeface="Arial"/>
              <a:buChar char="•"/>
            </a:pPr>
            <a:r>
              <a:rPr lang="en-US" sz="2757" b="1">
                <a:solidFill>
                  <a:srgbClr val="FFFFFF"/>
                </a:solidFill>
                <a:latin typeface="Raleway Semi-Bold"/>
                <a:ea typeface="Raleway Semi-Bold"/>
                <a:cs typeface="Raleway Semi-Bold"/>
                <a:sym typeface="Raleway Semi-Bold"/>
              </a:rPr>
              <a:t>Uses lightweight AI models to reduce computational energy usage.</a:t>
            </a:r>
          </a:p>
          <a:p>
            <a:pPr algn="l">
              <a:lnSpc>
                <a:spcPts val="2923"/>
              </a:lnSpc>
            </a:pPr>
            <a:endParaRPr lang="en-US" sz="2757" b="1">
              <a:solidFill>
                <a:srgbClr val="FFFFFF"/>
              </a:solidFill>
              <a:latin typeface="Raleway Semi-Bold"/>
              <a:ea typeface="Raleway Semi-Bold"/>
              <a:cs typeface="Raleway Semi-Bold"/>
              <a:sym typeface="Raleway Semi-Bold"/>
            </a:endParaRPr>
          </a:p>
          <a:p>
            <a:pPr marL="595448" lvl="1" indent="-297724" algn="l">
              <a:lnSpc>
                <a:spcPts val="2923"/>
              </a:lnSpc>
              <a:buFont typeface="Arial"/>
              <a:buChar char="•"/>
            </a:pPr>
            <a:r>
              <a:rPr lang="en-US" sz="2757" b="1">
                <a:solidFill>
                  <a:srgbClr val="FFFFFF"/>
                </a:solidFill>
                <a:latin typeface="Raleway Semi-Bold"/>
                <a:ea typeface="Raleway Semi-Bold"/>
                <a:cs typeface="Raleway Semi-Bold"/>
                <a:sym typeface="Raleway Semi-Bold"/>
              </a:rPr>
              <a:t>Browser-based design lowers reliance on energy-intensive cloud servers.</a:t>
            </a:r>
          </a:p>
        </p:txBody>
      </p:sp>
      <p:sp>
        <p:nvSpPr>
          <p:cNvPr id="14" name="Freeform 14"/>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980091" y="954693"/>
            <a:ext cx="12334505" cy="2302542"/>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INNOVATIVENESS &amp; </a:t>
            </a:r>
            <a:r>
              <a:rPr lang="en-US" sz="8430" b="1">
                <a:solidFill>
                  <a:srgbClr val="FFFFFF"/>
                </a:solidFill>
                <a:latin typeface="TT Lakes Neue Bold"/>
                <a:ea typeface="TT Lakes Neue Bold"/>
                <a:cs typeface="TT Lakes Neue Bold"/>
                <a:sym typeface="TT Lakes Neue Bold"/>
              </a:rPr>
              <a:t>FEASIBILITY</a:t>
            </a:r>
          </a:p>
        </p:txBody>
      </p:sp>
      <p:sp>
        <p:nvSpPr>
          <p:cNvPr id="4" name="TextBox 4"/>
          <p:cNvSpPr txBox="1"/>
          <p:nvPr/>
        </p:nvSpPr>
        <p:spPr>
          <a:xfrm>
            <a:off x="15840483" y="1043276"/>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5" name="TextBox 5"/>
          <p:cNvSpPr txBox="1"/>
          <p:nvPr/>
        </p:nvSpPr>
        <p:spPr>
          <a:xfrm>
            <a:off x="9360427" y="4151768"/>
            <a:ext cx="7898873" cy="3739689"/>
          </a:xfrm>
          <a:prstGeom prst="rect">
            <a:avLst/>
          </a:prstGeom>
        </p:spPr>
        <p:txBody>
          <a:bodyPr lIns="0" tIns="0" rIns="0" bIns="0" rtlCol="0" anchor="t">
            <a:spAutoFit/>
          </a:bodyPr>
          <a:lstStyle/>
          <a:p>
            <a:pPr algn="l">
              <a:lnSpc>
                <a:spcPts val="3571"/>
              </a:lnSpc>
            </a:pPr>
            <a:r>
              <a:rPr lang="en-US" sz="3369" b="1">
                <a:solidFill>
                  <a:srgbClr val="FFFFFF"/>
                </a:solidFill>
                <a:latin typeface="Raleway Bold"/>
                <a:ea typeface="Raleway Bold"/>
                <a:cs typeface="Raleway Bold"/>
                <a:sym typeface="Raleway Bold"/>
              </a:rPr>
              <a:t>FEASIBILITY:</a:t>
            </a:r>
          </a:p>
          <a:p>
            <a:pPr algn="l">
              <a:lnSpc>
                <a:spcPts val="3571"/>
              </a:lnSpc>
            </a:pPr>
            <a:endParaRPr lang="en-US" sz="3369" b="1">
              <a:solidFill>
                <a:srgbClr val="FFFFFF"/>
              </a:solidFill>
              <a:latin typeface="Raleway Bold"/>
              <a:ea typeface="Raleway Bold"/>
              <a:cs typeface="Raleway Bold"/>
              <a:sym typeface="Raleway Bold"/>
            </a:endParaRPr>
          </a:p>
          <a:p>
            <a:pPr marL="572134" lvl="1" indent="-286067" algn="l">
              <a:lnSpc>
                <a:spcPts val="2808"/>
              </a:lnSpc>
              <a:buFont typeface="Arial"/>
              <a:buChar char="•"/>
            </a:pPr>
            <a:r>
              <a:rPr lang="en-US" sz="2649" b="1">
                <a:solidFill>
                  <a:srgbClr val="FFFFFF"/>
                </a:solidFill>
                <a:latin typeface="Raleway Bold"/>
                <a:ea typeface="Raleway Bold"/>
                <a:cs typeface="Raleway Bold"/>
                <a:sym typeface="Raleway Bold"/>
              </a:rPr>
              <a:t>Uses existing AI/NLP models (BERT, multilingual transformers).</a:t>
            </a:r>
          </a:p>
          <a:p>
            <a:pPr algn="l">
              <a:lnSpc>
                <a:spcPts val="2808"/>
              </a:lnSpc>
            </a:pPr>
            <a:endParaRPr lang="en-US" sz="2649" b="1">
              <a:solidFill>
                <a:srgbClr val="FFFFFF"/>
              </a:solidFill>
              <a:latin typeface="Raleway Bold"/>
              <a:ea typeface="Raleway Bold"/>
              <a:cs typeface="Raleway Bold"/>
              <a:sym typeface="Raleway Bold"/>
            </a:endParaRPr>
          </a:p>
          <a:p>
            <a:pPr marL="572134" lvl="1" indent="-286067" algn="l">
              <a:lnSpc>
                <a:spcPts val="2808"/>
              </a:lnSpc>
              <a:buFont typeface="Arial"/>
              <a:buChar char="•"/>
            </a:pPr>
            <a:r>
              <a:rPr lang="en-US" sz="2649" b="1">
                <a:solidFill>
                  <a:srgbClr val="FFFFFF"/>
                </a:solidFill>
                <a:latin typeface="Raleway Bold"/>
                <a:ea typeface="Raleway Bold"/>
                <a:cs typeface="Raleway Bold"/>
                <a:sym typeface="Raleway Bold"/>
              </a:rPr>
              <a:t>Browser extension framework supports cross-platform use.</a:t>
            </a:r>
          </a:p>
          <a:p>
            <a:pPr algn="l">
              <a:lnSpc>
                <a:spcPts val="2808"/>
              </a:lnSpc>
            </a:pPr>
            <a:endParaRPr lang="en-US" sz="2649" b="1">
              <a:solidFill>
                <a:srgbClr val="FFFFFF"/>
              </a:solidFill>
              <a:latin typeface="Raleway Bold"/>
              <a:ea typeface="Raleway Bold"/>
              <a:cs typeface="Raleway Bold"/>
              <a:sym typeface="Raleway Bold"/>
            </a:endParaRPr>
          </a:p>
          <a:p>
            <a:pPr marL="572134" lvl="1" indent="-286067" algn="l">
              <a:lnSpc>
                <a:spcPts val="2808"/>
              </a:lnSpc>
              <a:spcBef>
                <a:spcPct val="0"/>
              </a:spcBef>
              <a:buFont typeface="Arial"/>
              <a:buChar char="•"/>
            </a:pPr>
            <a:r>
              <a:rPr lang="en-US" sz="2649" b="1">
                <a:solidFill>
                  <a:srgbClr val="FFFFFF"/>
                </a:solidFill>
                <a:latin typeface="Raleway Bold"/>
                <a:ea typeface="Raleway Bold"/>
                <a:cs typeface="Raleway Bold"/>
                <a:sym typeface="Raleway Bold"/>
              </a:rPr>
              <a:t>Scalable with cloud-based processing can be trained on publicly available datasets.</a:t>
            </a:r>
          </a:p>
        </p:txBody>
      </p:sp>
      <p:sp>
        <p:nvSpPr>
          <p:cNvPr id="6" name="TextBox 6"/>
          <p:cNvSpPr txBox="1"/>
          <p:nvPr/>
        </p:nvSpPr>
        <p:spPr>
          <a:xfrm>
            <a:off x="1106055" y="4161293"/>
            <a:ext cx="7581149" cy="3397506"/>
          </a:xfrm>
          <a:prstGeom prst="rect">
            <a:avLst/>
          </a:prstGeom>
        </p:spPr>
        <p:txBody>
          <a:bodyPr lIns="0" tIns="0" rIns="0" bIns="0" rtlCol="0" anchor="t">
            <a:spAutoFit/>
          </a:bodyPr>
          <a:lstStyle/>
          <a:p>
            <a:pPr algn="l">
              <a:lnSpc>
                <a:spcPts val="3657"/>
              </a:lnSpc>
            </a:pPr>
            <a:r>
              <a:rPr lang="en-US" sz="3450" b="1">
                <a:solidFill>
                  <a:srgbClr val="FFFFFF"/>
                </a:solidFill>
                <a:latin typeface="Raleway Bold"/>
                <a:ea typeface="Raleway Bold"/>
                <a:cs typeface="Raleway Bold"/>
                <a:sym typeface="Raleway Bold"/>
              </a:rPr>
              <a:t>INNOVATIVENESS:</a:t>
            </a:r>
          </a:p>
          <a:p>
            <a:pPr algn="l">
              <a:lnSpc>
                <a:spcPts val="3657"/>
              </a:lnSpc>
            </a:pPr>
            <a:endParaRPr lang="en-US" sz="3450" b="1">
              <a:solidFill>
                <a:srgbClr val="FFFFFF"/>
              </a:solidFill>
              <a:latin typeface="Raleway Bold"/>
              <a:ea typeface="Raleway Bold"/>
              <a:cs typeface="Raleway Bold"/>
              <a:sym typeface="Raleway Bold"/>
            </a:endParaRPr>
          </a:p>
          <a:p>
            <a:pPr marL="572157" lvl="1" indent="-286079" algn="l">
              <a:lnSpc>
                <a:spcPts val="2809"/>
              </a:lnSpc>
              <a:buFont typeface="Arial"/>
              <a:buChar char="•"/>
            </a:pPr>
            <a:r>
              <a:rPr lang="en-US" sz="2650" b="1">
                <a:solidFill>
                  <a:srgbClr val="FFFFFF"/>
                </a:solidFill>
                <a:latin typeface="Raleway Bold"/>
                <a:ea typeface="Raleway Bold"/>
                <a:cs typeface="Raleway Bold"/>
                <a:sym typeface="Raleway Bold"/>
              </a:rPr>
              <a:t>Works across platforms, not tied to a single app.</a:t>
            </a:r>
          </a:p>
          <a:p>
            <a:pPr algn="l">
              <a:lnSpc>
                <a:spcPts val="2809"/>
              </a:lnSpc>
            </a:pPr>
            <a:endParaRPr lang="en-US" sz="2650" b="1">
              <a:solidFill>
                <a:srgbClr val="FFFFFF"/>
              </a:solidFill>
              <a:latin typeface="Raleway Bold"/>
              <a:ea typeface="Raleway Bold"/>
              <a:cs typeface="Raleway Bold"/>
              <a:sym typeface="Raleway Bold"/>
            </a:endParaRPr>
          </a:p>
          <a:p>
            <a:pPr marL="572157" lvl="1" indent="-286079" algn="l">
              <a:lnSpc>
                <a:spcPts val="2809"/>
              </a:lnSpc>
              <a:buFont typeface="Arial"/>
              <a:buChar char="•"/>
            </a:pPr>
            <a:r>
              <a:rPr lang="en-US" sz="2650" b="1">
                <a:solidFill>
                  <a:srgbClr val="FFFFFF"/>
                </a:solidFill>
                <a:latin typeface="Raleway Bold"/>
                <a:ea typeface="Raleway Bold"/>
                <a:cs typeface="Raleway Bold"/>
                <a:sym typeface="Raleway Bold"/>
              </a:rPr>
              <a:t>Real-time browser integration for instant action.</a:t>
            </a:r>
          </a:p>
          <a:p>
            <a:pPr algn="l">
              <a:lnSpc>
                <a:spcPts val="2809"/>
              </a:lnSpc>
            </a:pPr>
            <a:endParaRPr lang="en-US" sz="2650" b="1">
              <a:solidFill>
                <a:srgbClr val="FFFFFF"/>
              </a:solidFill>
              <a:latin typeface="Raleway Bold"/>
              <a:ea typeface="Raleway Bold"/>
              <a:cs typeface="Raleway Bold"/>
              <a:sym typeface="Raleway Bold"/>
            </a:endParaRPr>
          </a:p>
          <a:p>
            <a:pPr marL="572157" lvl="1" indent="-286079" algn="l">
              <a:lnSpc>
                <a:spcPts val="2809"/>
              </a:lnSpc>
              <a:buFont typeface="Arial"/>
              <a:buChar char="•"/>
            </a:pPr>
            <a:r>
              <a:rPr lang="en-US" sz="2650" b="1">
                <a:solidFill>
                  <a:srgbClr val="FFFFFF"/>
                </a:solidFill>
                <a:latin typeface="Raleway Bold"/>
                <a:ea typeface="Raleway Bold"/>
                <a:cs typeface="Raleway Bold"/>
                <a:sym typeface="Raleway Bold"/>
              </a:rPr>
              <a:t>Multilingual detection beyond English.</a:t>
            </a:r>
          </a:p>
        </p:txBody>
      </p:sp>
      <p:sp>
        <p:nvSpPr>
          <p:cNvPr id="7" name="Freeform 7"/>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40000"/>
              <a:extLst>
                <a:ext uri="{96DAC541-7B7A-43D3-8B79-37D633B846F1}">
                  <asvg:svgBlip xmlns:asvg="http://schemas.microsoft.com/office/drawing/2016/SVG/main" r:embed="rId3"/>
                </a:ext>
              </a:extLst>
            </a:blip>
            <a:stretch>
              <a:fillRect/>
            </a:stretch>
          </a:blipFill>
        </p:spPr>
      </p:sp>
      <p:sp>
        <p:nvSpPr>
          <p:cNvPr id="8" name="Freeform 8"/>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50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975095" y="1150919"/>
            <a:ext cx="8337810"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CONCLUSION</a:t>
            </a:r>
          </a:p>
        </p:txBody>
      </p:sp>
      <p:sp>
        <p:nvSpPr>
          <p:cNvPr id="4" name="TextBox 4"/>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5" name="Freeform 5"/>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200474" y="3313788"/>
            <a:ext cx="18688947" cy="4512905"/>
            <a:chOff x="0" y="0"/>
            <a:chExt cx="4922192" cy="1188584"/>
          </a:xfrm>
        </p:grpSpPr>
        <p:sp>
          <p:nvSpPr>
            <p:cNvPr id="7" name="Freeform 7"/>
            <p:cNvSpPr/>
            <p:nvPr/>
          </p:nvSpPr>
          <p:spPr>
            <a:xfrm>
              <a:off x="0" y="0"/>
              <a:ext cx="4922192" cy="1188584"/>
            </a:xfrm>
            <a:custGeom>
              <a:avLst/>
              <a:gdLst/>
              <a:ahLst/>
              <a:cxnLst/>
              <a:rect l="l" t="t" r="r" b="b"/>
              <a:pathLst>
                <a:path w="4922192" h="1188584">
                  <a:moveTo>
                    <a:pt x="0" y="0"/>
                  </a:moveTo>
                  <a:lnTo>
                    <a:pt x="4922192" y="0"/>
                  </a:lnTo>
                  <a:lnTo>
                    <a:pt x="4922192" y="1188584"/>
                  </a:lnTo>
                  <a:lnTo>
                    <a:pt x="0" y="1188584"/>
                  </a:lnTo>
                  <a:close/>
                </a:path>
              </a:pathLst>
            </a:custGeom>
            <a:gradFill rotWithShape="1">
              <a:gsLst>
                <a:gs pos="0">
                  <a:srgbClr val="131F40">
                    <a:alpha val="75000"/>
                  </a:srgbClr>
                </a:gs>
                <a:gs pos="100000">
                  <a:srgbClr val="3D6D81">
                    <a:alpha val="75000"/>
                  </a:srgbClr>
                </a:gs>
              </a:gsLst>
              <a:lin ang="0"/>
            </a:gradFill>
          </p:spPr>
        </p:sp>
        <p:sp>
          <p:nvSpPr>
            <p:cNvPr id="8" name="TextBox 8"/>
            <p:cNvSpPr txBox="1"/>
            <p:nvPr/>
          </p:nvSpPr>
          <p:spPr>
            <a:xfrm>
              <a:off x="0" y="28575"/>
              <a:ext cx="4922192" cy="1160009"/>
            </a:xfrm>
            <a:prstGeom prst="rect">
              <a:avLst/>
            </a:prstGeom>
          </p:spPr>
          <p:txBody>
            <a:bodyPr lIns="50800" tIns="50800" rIns="50800" bIns="50800" rtlCol="0" anchor="ctr"/>
            <a:lstStyle/>
            <a:p>
              <a:pPr algn="ctr">
                <a:lnSpc>
                  <a:spcPts val="2181"/>
                </a:lnSpc>
              </a:pPr>
              <a:endParaRPr/>
            </a:p>
          </p:txBody>
        </p:sp>
      </p:grpSp>
      <p:sp>
        <p:nvSpPr>
          <p:cNvPr id="9" name="TextBox 9"/>
          <p:cNvSpPr txBox="1"/>
          <p:nvPr/>
        </p:nvSpPr>
        <p:spPr>
          <a:xfrm>
            <a:off x="1104644" y="3813059"/>
            <a:ext cx="16078712" cy="3548128"/>
          </a:xfrm>
          <a:prstGeom prst="rect">
            <a:avLst/>
          </a:prstGeom>
        </p:spPr>
        <p:txBody>
          <a:bodyPr lIns="0" tIns="0" rIns="0" bIns="0" rtlCol="0" anchor="t">
            <a:spAutoFit/>
          </a:bodyPr>
          <a:lstStyle/>
          <a:p>
            <a:pPr marL="636926" lvl="1" indent="-318463" algn="l">
              <a:lnSpc>
                <a:spcPts val="3127"/>
              </a:lnSpc>
              <a:buFont typeface="Arial"/>
              <a:buChar char="•"/>
            </a:pPr>
            <a:r>
              <a:rPr lang="en-US" sz="2950" b="1">
                <a:solidFill>
                  <a:srgbClr val="FFFFFF"/>
                </a:solidFill>
                <a:latin typeface="Raleway Bold"/>
                <a:ea typeface="Raleway Bold"/>
                <a:cs typeface="Raleway Bold"/>
                <a:sym typeface="Raleway Bold"/>
              </a:rPr>
              <a:t>Achieved real time detection of  toxic and neutral messages across multiple languages.</a:t>
            </a:r>
          </a:p>
          <a:p>
            <a:pPr algn="l">
              <a:lnSpc>
                <a:spcPts val="3127"/>
              </a:lnSpc>
            </a:pPr>
            <a:endParaRPr lang="en-US" sz="2950" b="1">
              <a:solidFill>
                <a:srgbClr val="FFFFFF"/>
              </a:solidFill>
              <a:latin typeface="Raleway Bold"/>
              <a:ea typeface="Raleway Bold"/>
              <a:cs typeface="Raleway Bold"/>
              <a:sym typeface="Raleway Bold"/>
            </a:endParaRPr>
          </a:p>
          <a:p>
            <a:pPr marL="636926" lvl="1" indent="-318463" algn="l">
              <a:lnSpc>
                <a:spcPts val="3127"/>
              </a:lnSpc>
              <a:buFont typeface="Arial"/>
              <a:buChar char="•"/>
            </a:pPr>
            <a:r>
              <a:rPr lang="en-US" sz="2950" b="1">
                <a:solidFill>
                  <a:srgbClr val="FFFFFF"/>
                </a:solidFill>
                <a:latin typeface="Raleway Bold"/>
                <a:ea typeface="Raleway Bold"/>
                <a:cs typeface="Raleway Bold"/>
                <a:sym typeface="Raleway Bold"/>
              </a:rPr>
              <a:t>Improved accuracy and performance after fine-tuning the model.</a:t>
            </a:r>
          </a:p>
          <a:p>
            <a:pPr algn="l">
              <a:lnSpc>
                <a:spcPts val="3127"/>
              </a:lnSpc>
            </a:pPr>
            <a:endParaRPr lang="en-US" sz="2950" b="1">
              <a:solidFill>
                <a:srgbClr val="FFFFFF"/>
              </a:solidFill>
              <a:latin typeface="Raleway Bold"/>
              <a:ea typeface="Raleway Bold"/>
              <a:cs typeface="Raleway Bold"/>
              <a:sym typeface="Raleway Bold"/>
            </a:endParaRPr>
          </a:p>
          <a:p>
            <a:pPr marL="636926" lvl="1" indent="-318463" algn="l">
              <a:lnSpc>
                <a:spcPts val="3127"/>
              </a:lnSpc>
              <a:buFont typeface="Arial"/>
              <a:buChar char="•"/>
            </a:pPr>
            <a:r>
              <a:rPr lang="en-US" sz="2950" b="1">
                <a:solidFill>
                  <a:srgbClr val="FFFFFF"/>
                </a:solidFill>
                <a:latin typeface="Raleway Bold"/>
                <a:ea typeface="Raleway Bold"/>
                <a:cs typeface="Raleway Bold"/>
                <a:sym typeface="Raleway Bold"/>
              </a:rPr>
              <a:t>Successfully filters harmful content using blur, scoring, and user control features.</a:t>
            </a:r>
          </a:p>
          <a:p>
            <a:pPr algn="l">
              <a:lnSpc>
                <a:spcPts val="3127"/>
              </a:lnSpc>
            </a:pPr>
            <a:endParaRPr lang="en-US" sz="2950" b="1">
              <a:solidFill>
                <a:srgbClr val="FFFFFF"/>
              </a:solidFill>
              <a:latin typeface="Raleway Bold"/>
              <a:ea typeface="Raleway Bold"/>
              <a:cs typeface="Raleway Bold"/>
              <a:sym typeface="Raleway Bold"/>
            </a:endParaRPr>
          </a:p>
          <a:p>
            <a:pPr marL="636926" lvl="1" indent="-318463" algn="l">
              <a:lnSpc>
                <a:spcPts val="3127"/>
              </a:lnSpc>
              <a:spcBef>
                <a:spcPct val="0"/>
              </a:spcBef>
              <a:buFont typeface="Arial"/>
              <a:buChar char="•"/>
            </a:pPr>
            <a:r>
              <a:rPr lang="en-US" sz="2950" b="1">
                <a:solidFill>
                  <a:srgbClr val="FFFFFF"/>
                </a:solidFill>
                <a:latin typeface="Raleway Bold"/>
                <a:ea typeface="Raleway Bold"/>
                <a:cs typeface="Raleway Bold"/>
                <a:sym typeface="Raleway Bold"/>
              </a:rPr>
              <a:t>Demonstrated strong potential for enhancing online safety through automated moderation in real time.</a:t>
            </a:r>
          </a:p>
        </p:txBody>
      </p:sp>
      <p:sp>
        <p:nvSpPr>
          <p:cNvPr id="10" name="Freeform 10"/>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5840483" y="1057275"/>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5" name="Freeform 5"/>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544850" y="1150298"/>
            <a:ext cx="9198301"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FUTURE </a:t>
            </a:r>
            <a:r>
              <a:rPr lang="en-US" sz="8430" b="1">
                <a:solidFill>
                  <a:srgbClr val="FFFFFF"/>
                </a:solidFill>
                <a:latin typeface="TT Lakes Neue Bold"/>
                <a:ea typeface="TT Lakes Neue Bold"/>
                <a:cs typeface="TT Lakes Neue Bold"/>
                <a:sym typeface="TT Lakes Neue Bold"/>
              </a:rPr>
              <a:t>SCOPE</a:t>
            </a:r>
          </a:p>
        </p:txBody>
      </p:sp>
      <p:grpSp>
        <p:nvGrpSpPr>
          <p:cNvPr id="7" name="Group 7"/>
          <p:cNvGrpSpPr/>
          <p:nvPr/>
        </p:nvGrpSpPr>
        <p:grpSpPr>
          <a:xfrm>
            <a:off x="-200474" y="2836116"/>
            <a:ext cx="18688947" cy="5183455"/>
            <a:chOff x="0" y="0"/>
            <a:chExt cx="4922192" cy="1365190"/>
          </a:xfrm>
        </p:grpSpPr>
        <p:sp>
          <p:nvSpPr>
            <p:cNvPr id="8" name="Freeform 8"/>
            <p:cNvSpPr/>
            <p:nvPr/>
          </p:nvSpPr>
          <p:spPr>
            <a:xfrm>
              <a:off x="0" y="0"/>
              <a:ext cx="4922192" cy="1365190"/>
            </a:xfrm>
            <a:custGeom>
              <a:avLst/>
              <a:gdLst/>
              <a:ahLst/>
              <a:cxnLst/>
              <a:rect l="l" t="t" r="r" b="b"/>
              <a:pathLst>
                <a:path w="4922192" h="1365190">
                  <a:moveTo>
                    <a:pt x="0" y="0"/>
                  </a:moveTo>
                  <a:lnTo>
                    <a:pt x="4922192" y="0"/>
                  </a:lnTo>
                  <a:lnTo>
                    <a:pt x="4922192" y="1365190"/>
                  </a:lnTo>
                  <a:lnTo>
                    <a:pt x="0" y="1365190"/>
                  </a:lnTo>
                  <a:close/>
                </a:path>
              </a:pathLst>
            </a:custGeom>
            <a:gradFill rotWithShape="1">
              <a:gsLst>
                <a:gs pos="0">
                  <a:srgbClr val="131F40">
                    <a:alpha val="75000"/>
                  </a:srgbClr>
                </a:gs>
                <a:gs pos="100000">
                  <a:srgbClr val="3D6D81">
                    <a:alpha val="75000"/>
                  </a:srgbClr>
                </a:gs>
              </a:gsLst>
              <a:lin ang="0"/>
            </a:gradFill>
          </p:spPr>
        </p:sp>
        <p:sp>
          <p:nvSpPr>
            <p:cNvPr id="9" name="TextBox 9"/>
            <p:cNvSpPr txBox="1"/>
            <p:nvPr/>
          </p:nvSpPr>
          <p:spPr>
            <a:xfrm>
              <a:off x="0" y="28575"/>
              <a:ext cx="4922192" cy="1336615"/>
            </a:xfrm>
            <a:prstGeom prst="rect">
              <a:avLst/>
            </a:prstGeom>
          </p:spPr>
          <p:txBody>
            <a:bodyPr lIns="50800" tIns="50800" rIns="50800" bIns="50800" rtlCol="0" anchor="ctr"/>
            <a:lstStyle/>
            <a:p>
              <a:pPr algn="ctr">
                <a:lnSpc>
                  <a:spcPts val="2181"/>
                </a:lnSpc>
              </a:pPr>
              <a:endParaRPr/>
            </a:p>
          </p:txBody>
        </p:sp>
      </p:grpSp>
      <p:sp>
        <p:nvSpPr>
          <p:cNvPr id="10" name="TextBox 10"/>
          <p:cNvSpPr txBox="1"/>
          <p:nvPr/>
        </p:nvSpPr>
        <p:spPr>
          <a:xfrm>
            <a:off x="1028700" y="3494634"/>
            <a:ext cx="16671894" cy="3894993"/>
          </a:xfrm>
          <a:prstGeom prst="rect">
            <a:avLst/>
          </a:prstGeom>
        </p:spPr>
        <p:txBody>
          <a:bodyPr lIns="0" tIns="0" rIns="0" bIns="0" rtlCol="0" anchor="t">
            <a:spAutoFit/>
          </a:bodyPr>
          <a:lstStyle/>
          <a:p>
            <a:pPr algn="l">
              <a:lnSpc>
                <a:spcPts val="2795"/>
              </a:lnSpc>
              <a:spcBef>
                <a:spcPct val="0"/>
              </a:spcBef>
            </a:pPr>
            <a:r>
              <a:rPr lang="en-US" sz="2637" b="1">
                <a:solidFill>
                  <a:srgbClr val="FFFFFF"/>
                </a:solidFill>
                <a:latin typeface="Raleway Bold"/>
                <a:ea typeface="Raleway Bold"/>
                <a:cs typeface="Raleway Bold"/>
                <a:sym typeface="Raleway Bold"/>
              </a:rPr>
              <a:t>1. VOICE AND IMAGE-BASED DETECTION</a:t>
            </a:r>
          </a:p>
          <a:p>
            <a:pPr algn="l">
              <a:lnSpc>
                <a:spcPts val="2795"/>
              </a:lnSpc>
              <a:spcBef>
                <a:spcPct val="0"/>
              </a:spcBef>
            </a:pPr>
            <a:r>
              <a:rPr lang="en-US" sz="2637">
                <a:solidFill>
                  <a:srgbClr val="FFFFFF"/>
                </a:solidFill>
                <a:latin typeface="Raleway"/>
                <a:ea typeface="Raleway"/>
                <a:cs typeface="Raleway"/>
                <a:sym typeface="Raleway"/>
              </a:rPr>
              <a:t>Detect offensive memes and images using computer vision models (e.g. CLIP). Identify abusive audio content using speech-to-text and toxicity classification.</a:t>
            </a:r>
          </a:p>
          <a:p>
            <a:pPr algn="l">
              <a:lnSpc>
                <a:spcPts val="2795"/>
              </a:lnSpc>
              <a:spcBef>
                <a:spcPct val="0"/>
              </a:spcBef>
            </a:pPr>
            <a:endParaRPr lang="en-US" sz="2637">
              <a:solidFill>
                <a:srgbClr val="FFFFFF"/>
              </a:solidFill>
              <a:latin typeface="Raleway"/>
              <a:ea typeface="Raleway"/>
              <a:cs typeface="Raleway"/>
              <a:sym typeface="Raleway"/>
            </a:endParaRPr>
          </a:p>
          <a:p>
            <a:pPr algn="l">
              <a:lnSpc>
                <a:spcPts val="2795"/>
              </a:lnSpc>
              <a:spcBef>
                <a:spcPct val="0"/>
              </a:spcBef>
            </a:pPr>
            <a:r>
              <a:rPr lang="en-US" sz="2637" b="1">
                <a:solidFill>
                  <a:srgbClr val="FFFFFF"/>
                </a:solidFill>
                <a:latin typeface="Raleway Bold"/>
                <a:ea typeface="Raleway Bold"/>
                <a:cs typeface="Raleway Bold"/>
                <a:sym typeface="Raleway Bold"/>
              </a:rPr>
              <a:t>2. CROSS-LANGUAGE TRANSLATION INTEGRATION</a:t>
            </a:r>
          </a:p>
          <a:p>
            <a:pPr algn="l">
              <a:lnSpc>
                <a:spcPts val="2795"/>
              </a:lnSpc>
              <a:spcBef>
                <a:spcPct val="0"/>
              </a:spcBef>
            </a:pPr>
            <a:r>
              <a:rPr lang="en-US" sz="2637">
                <a:solidFill>
                  <a:srgbClr val="FFFFFF"/>
                </a:solidFill>
                <a:latin typeface="Raleway"/>
                <a:ea typeface="Raleway"/>
                <a:cs typeface="Raleway"/>
                <a:sym typeface="Raleway"/>
              </a:rPr>
              <a:t>Integrate Google Translate or DeepL API to handle code-mixed and low-resourcelanguage comments before passing them to the detection model.</a:t>
            </a:r>
          </a:p>
          <a:p>
            <a:pPr algn="l">
              <a:lnSpc>
                <a:spcPts val="2795"/>
              </a:lnSpc>
              <a:spcBef>
                <a:spcPct val="0"/>
              </a:spcBef>
            </a:pPr>
            <a:endParaRPr lang="en-US" sz="2637">
              <a:solidFill>
                <a:srgbClr val="FFFFFF"/>
              </a:solidFill>
              <a:latin typeface="Raleway"/>
              <a:ea typeface="Raleway"/>
              <a:cs typeface="Raleway"/>
              <a:sym typeface="Raleway"/>
            </a:endParaRPr>
          </a:p>
          <a:p>
            <a:pPr algn="l">
              <a:lnSpc>
                <a:spcPts val="2795"/>
              </a:lnSpc>
              <a:spcBef>
                <a:spcPct val="0"/>
              </a:spcBef>
            </a:pPr>
            <a:r>
              <a:rPr lang="en-US" sz="2637" b="1">
                <a:solidFill>
                  <a:srgbClr val="FFFFFF"/>
                </a:solidFill>
                <a:latin typeface="Raleway Bold"/>
                <a:ea typeface="Raleway Bold"/>
                <a:cs typeface="Raleway Bold"/>
                <a:sym typeface="Raleway Bold"/>
              </a:rPr>
              <a:t>3. UNIVERSAL AI MODERATION SERVICE</a:t>
            </a:r>
          </a:p>
          <a:p>
            <a:pPr algn="l">
              <a:lnSpc>
                <a:spcPts val="2795"/>
              </a:lnSpc>
              <a:spcBef>
                <a:spcPct val="0"/>
              </a:spcBef>
            </a:pPr>
            <a:r>
              <a:rPr lang="en-US" sz="2637">
                <a:solidFill>
                  <a:srgbClr val="FFFFFF"/>
                </a:solidFill>
                <a:latin typeface="Raleway"/>
                <a:ea typeface="Raleway"/>
                <a:cs typeface="Raleway"/>
                <a:sym typeface="Raleway"/>
              </a:rPr>
              <a:t>Evolve ToxiShield into a standalone REST PI that any social media platformor third-party app can integrate for automated real-time content moderation.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560782" y="1150309"/>
            <a:ext cx="7647947" cy="116904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REFERENCES</a:t>
            </a:r>
          </a:p>
        </p:txBody>
      </p:sp>
      <p:sp>
        <p:nvSpPr>
          <p:cNvPr id="4" name="TextBox 4"/>
          <p:cNvSpPr txBox="1"/>
          <p:nvPr/>
        </p:nvSpPr>
        <p:spPr>
          <a:xfrm>
            <a:off x="15840483" y="1057275"/>
            <a:ext cx="1418817" cy="263316"/>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5" name="TextBox 5"/>
          <p:cNvSpPr txBox="1"/>
          <p:nvPr/>
        </p:nvSpPr>
        <p:spPr>
          <a:xfrm>
            <a:off x="776145" y="3746899"/>
            <a:ext cx="14768655" cy="303929"/>
          </a:xfrm>
          <a:prstGeom prst="rect">
            <a:avLst/>
          </a:prstGeom>
        </p:spPr>
        <p:txBody>
          <a:bodyPr wrap="square" lIns="0" tIns="0" rIns="0" bIns="0" rtlCol="0" anchor="t">
            <a:spAutoFit/>
          </a:bodyPr>
          <a:lstStyle/>
          <a:p>
            <a:pPr algn="l">
              <a:lnSpc>
                <a:spcPts val="2279"/>
              </a:lnSpc>
              <a:spcBef>
                <a:spcPct val="0"/>
              </a:spcBef>
            </a:pPr>
            <a:r>
              <a:rPr lang="en-US" sz="2150" u="sng" dirty="0">
                <a:solidFill>
                  <a:srgbClr val="FFFFFF"/>
                </a:solidFill>
                <a:latin typeface="TT Lakes Neue"/>
                <a:ea typeface="TT Lakes Neue"/>
                <a:cs typeface="TT Lakes Neue"/>
                <a:sym typeface="TT Lakes Neue"/>
                <a:hlinkClick r:id="rId3" tooltip="https://drive.google.com/file/d/1XwcbNG3QQ0vIXxduGtdamigpSlkNYJxl/view?usp=drive_link"/>
              </a:rPr>
              <a:t>Cyberbullying Detection of Resource-Constrained Language from Social Media using Transformer-Based Approach</a:t>
            </a:r>
          </a:p>
        </p:txBody>
      </p:sp>
      <p:sp>
        <p:nvSpPr>
          <p:cNvPr id="6" name="TextBox 6"/>
          <p:cNvSpPr txBox="1"/>
          <p:nvPr/>
        </p:nvSpPr>
        <p:spPr>
          <a:xfrm>
            <a:off x="776145" y="5449893"/>
            <a:ext cx="16483155" cy="581154"/>
          </a:xfrm>
          <a:prstGeom prst="rect">
            <a:avLst/>
          </a:prstGeom>
        </p:spPr>
        <p:txBody>
          <a:bodyPr lIns="0" tIns="0" rIns="0" bIns="0" rtlCol="0" anchor="t">
            <a:spAutoFit/>
          </a:bodyPr>
          <a:lstStyle/>
          <a:p>
            <a:pPr algn="l">
              <a:lnSpc>
                <a:spcPts val="2279"/>
              </a:lnSpc>
              <a:spcBef>
                <a:spcPct val="0"/>
              </a:spcBef>
            </a:pPr>
            <a:r>
              <a:rPr lang="en-US" sz="2150" u="sng">
                <a:solidFill>
                  <a:srgbClr val="FFFFFF"/>
                </a:solidFill>
                <a:latin typeface="TT Lakes Neue"/>
                <a:ea typeface="TT Lakes Neue"/>
                <a:cs typeface="TT Lakes Neue"/>
                <a:sym typeface="TT Lakes Neue"/>
                <a:hlinkClick r:id="rId4" tooltip="https://drive.google.com/file/d/1xdv9q-qXgkba-dqjU9TXPxj7Oze4h5Xx/view?usp=drive_link"/>
              </a:rPr>
              <a:t>BullStop: A Mobile App for Cyberbullying Prevention Semiu Salawu, Yulan He &amp; Jo Lumsden, 2020</a:t>
            </a:r>
          </a:p>
          <a:p>
            <a:pPr algn="l">
              <a:lnSpc>
                <a:spcPts val="2279"/>
              </a:lnSpc>
              <a:spcBef>
                <a:spcPct val="0"/>
              </a:spcBef>
            </a:pPr>
            <a:endParaRPr lang="en-US" sz="2150" u="sng">
              <a:solidFill>
                <a:srgbClr val="FFFFFF"/>
              </a:solidFill>
              <a:latin typeface="TT Lakes Neue"/>
              <a:ea typeface="TT Lakes Neue"/>
              <a:cs typeface="TT Lakes Neue"/>
              <a:sym typeface="TT Lakes Neue"/>
              <a:hlinkClick r:id="rId4" tooltip="https://drive.google.com/file/d/1xdv9q-qXgkba-dqjU9TXPxj7Oze4h5Xx/view?usp=drive_link"/>
            </a:endParaRPr>
          </a:p>
        </p:txBody>
      </p:sp>
      <p:sp>
        <p:nvSpPr>
          <p:cNvPr id="7" name="TextBox 7"/>
          <p:cNvSpPr txBox="1"/>
          <p:nvPr/>
        </p:nvSpPr>
        <p:spPr>
          <a:xfrm>
            <a:off x="817726" y="7028021"/>
            <a:ext cx="16251073" cy="598882"/>
          </a:xfrm>
          <a:prstGeom prst="rect">
            <a:avLst/>
          </a:prstGeom>
        </p:spPr>
        <p:txBody>
          <a:bodyPr wrap="square" lIns="0" tIns="0" rIns="0" bIns="0" rtlCol="0" anchor="t">
            <a:spAutoFit/>
          </a:bodyPr>
          <a:lstStyle/>
          <a:p>
            <a:pPr algn="l">
              <a:lnSpc>
                <a:spcPts val="2279"/>
              </a:lnSpc>
            </a:pPr>
            <a:r>
              <a:rPr lang="en-US" sz="2150" u="sng" dirty="0">
                <a:solidFill>
                  <a:srgbClr val="FFFFFF"/>
                </a:solidFill>
                <a:latin typeface="TT Lakes Neue"/>
                <a:ea typeface="TT Lakes Neue"/>
                <a:cs typeface="TT Lakes Neue"/>
                <a:sym typeface="TT Lakes Neue"/>
                <a:hlinkClick r:id="rId5" tooltip="https://drive.google.com/file/d/13m9-ETHKr1BZf73W0vYU1JsMdvVGMstX/view?usp=drive_link"/>
              </a:rPr>
              <a:t>Intelligent Multi-Lingual Cyber-Hate Detection in Online Social Networks: Taxonomy, Approaches, Datasets,</a:t>
            </a:r>
          </a:p>
          <a:p>
            <a:pPr algn="l">
              <a:lnSpc>
                <a:spcPts val="2279"/>
              </a:lnSpc>
              <a:spcBef>
                <a:spcPct val="0"/>
              </a:spcBef>
            </a:pPr>
            <a:r>
              <a:rPr lang="en-US" sz="2150" u="sng" dirty="0">
                <a:solidFill>
                  <a:srgbClr val="FFFFFF"/>
                </a:solidFill>
                <a:latin typeface="TT Lakes Neue"/>
                <a:ea typeface="TT Lakes Neue"/>
                <a:cs typeface="TT Lakes Neue"/>
                <a:sym typeface="TT Lakes Neue"/>
                <a:hlinkClick r:id="rId5" tooltip="https://drive.google.com/file/d/13m9-ETHKr1BZf73W0vYU1JsMdvVGMstX/view?usp=drive_link"/>
              </a:rPr>
              <a:t> and Open Challenges</a:t>
            </a:r>
          </a:p>
        </p:txBody>
      </p:sp>
      <p:sp>
        <p:nvSpPr>
          <p:cNvPr id="8" name="TextBox 8"/>
          <p:cNvSpPr txBox="1"/>
          <p:nvPr/>
        </p:nvSpPr>
        <p:spPr>
          <a:xfrm>
            <a:off x="817727" y="8994984"/>
            <a:ext cx="15260473" cy="303929"/>
          </a:xfrm>
          <a:prstGeom prst="rect">
            <a:avLst/>
          </a:prstGeom>
        </p:spPr>
        <p:txBody>
          <a:bodyPr wrap="square" lIns="0" tIns="0" rIns="0" bIns="0" rtlCol="0" anchor="t">
            <a:spAutoFit/>
          </a:bodyPr>
          <a:lstStyle/>
          <a:p>
            <a:pPr algn="l">
              <a:lnSpc>
                <a:spcPts val="2279"/>
              </a:lnSpc>
              <a:spcBef>
                <a:spcPct val="0"/>
              </a:spcBef>
            </a:pPr>
            <a:r>
              <a:rPr lang="en-US" sz="2150" u="sng" dirty="0">
                <a:solidFill>
                  <a:srgbClr val="FFFFFF"/>
                </a:solidFill>
                <a:latin typeface="TT Lakes Neue"/>
                <a:ea typeface="TT Lakes Neue"/>
                <a:cs typeface="TT Lakes Neue"/>
                <a:sym typeface="TT Lakes Neue"/>
                <a:hlinkClick r:id="rId6" tooltip="https://drive.google.com/file/d/1YPbvU259xMTuCVIGoxNYzUmyOhcNXbhV/view?usp=drive_link"/>
              </a:rPr>
              <a:t>Advancing Cyberbullying Detection: A Hybrid Machine Learning and Deep Learning Framework for Social Media Analysis</a:t>
            </a:r>
          </a:p>
        </p:txBody>
      </p:sp>
      <p:sp>
        <p:nvSpPr>
          <p:cNvPr id="9" name="Freeform 9"/>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776144" y="2925465"/>
            <a:ext cx="17226247" cy="642000"/>
          </a:xfrm>
          <a:prstGeom prst="rect">
            <a:avLst/>
          </a:prstGeom>
        </p:spPr>
        <p:txBody>
          <a:bodyPr wrap="square" lIns="0" tIns="0" rIns="0" bIns="0" rtlCol="0" anchor="t">
            <a:spAutoFit/>
          </a:bodyPr>
          <a:lstStyle/>
          <a:p>
            <a:pPr algn="l">
              <a:lnSpc>
                <a:spcPts val="2499"/>
              </a:lnSpc>
              <a:spcBef>
                <a:spcPct val="0"/>
              </a:spcBef>
            </a:pPr>
            <a:r>
              <a:rPr lang="en-US" sz="2357" b="1" dirty="0">
                <a:solidFill>
                  <a:srgbClr val="FFFFFF"/>
                </a:solidFill>
                <a:latin typeface="Raleway Semi-Bold"/>
                <a:ea typeface="Raleway Semi-Bold"/>
                <a:cs typeface="Raleway Semi-Bold"/>
                <a:sym typeface="Raleway Semi-Bold"/>
              </a:rPr>
              <a:t>[1] Cyberbullying Detection of Resource-Constrained Language from Social Media using Transformer-Based Approach.</a:t>
            </a:r>
          </a:p>
          <a:p>
            <a:pPr algn="l">
              <a:lnSpc>
                <a:spcPts val="2499"/>
              </a:lnSpc>
              <a:spcBef>
                <a:spcPct val="0"/>
              </a:spcBef>
            </a:pPr>
            <a:r>
              <a:rPr lang="en-US" sz="2357" b="1" dirty="0">
                <a:solidFill>
                  <a:srgbClr val="FFFFFF"/>
                </a:solidFill>
                <a:latin typeface="Raleway Semi-Bold"/>
                <a:ea typeface="Raleway Semi-Bold"/>
                <a:cs typeface="Raleway Semi-Bold"/>
                <a:sym typeface="Raleway Semi-Bold"/>
              </a:rPr>
              <a:t> Authors: </a:t>
            </a:r>
            <a:r>
              <a:rPr lang="en-US" sz="2357" b="1" dirty="0" err="1">
                <a:solidFill>
                  <a:srgbClr val="FFFFFF"/>
                </a:solidFill>
                <a:latin typeface="Raleway Semi-Bold"/>
                <a:ea typeface="Raleway Semi-Bold"/>
                <a:cs typeface="Raleway Semi-Bold"/>
                <a:sym typeface="Raleway Semi-Bold"/>
              </a:rPr>
              <a:t>Sihab</a:t>
            </a:r>
            <a:r>
              <a:rPr lang="en-US" sz="2357" b="1" dirty="0">
                <a:solidFill>
                  <a:srgbClr val="FFFFFF"/>
                </a:solidFill>
                <a:latin typeface="Raleway Semi-Bold"/>
                <a:ea typeface="Raleway Semi-Bold"/>
                <a:cs typeface="Raleway Semi-Bold"/>
                <a:sym typeface="Raleway Semi-Bold"/>
              </a:rPr>
              <a:t>-Us-Sakib et al., 2024.</a:t>
            </a:r>
          </a:p>
        </p:txBody>
      </p:sp>
      <p:sp>
        <p:nvSpPr>
          <p:cNvPr id="11" name="TextBox 11"/>
          <p:cNvSpPr txBox="1"/>
          <p:nvPr/>
        </p:nvSpPr>
        <p:spPr>
          <a:xfrm>
            <a:off x="776144" y="4205026"/>
            <a:ext cx="8367855" cy="642000"/>
          </a:xfrm>
          <a:prstGeom prst="rect">
            <a:avLst/>
          </a:prstGeom>
        </p:spPr>
        <p:txBody>
          <a:bodyPr wrap="square" lIns="0" tIns="0" rIns="0" bIns="0" rtlCol="0" anchor="t">
            <a:spAutoFit/>
          </a:bodyPr>
          <a:lstStyle/>
          <a:p>
            <a:pPr algn="just">
              <a:lnSpc>
                <a:spcPts val="2499"/>
              </a:lnSpc>
              <a:spcBef>
                <a:spcPct val="0"/>
              </a:spcBef>
            </a:pPr>
            <a:r>
              <a:rPr lang="en-US" sz="2357" b="1" dirty="0">
                <a:solidFill>
                  <a:srgbClr val="FFFFFF"/>
                </a:solidFill>
                <a:latin typeface="Raleway Semi-Bold"/>
                <a:ea typeface="Raleway Semi-Bold"/>
                <a:cs typeface="Raleway Semi-Bold"/>
                <a:sym typeface="Raleway Semi-Bold"/>
              </a:rPr>
              <a:t>[2] </a:t>
            </a:r>
            <a:r>
              <a:rPr lang="en-US" sz="2357" b="1" dirty="0" err="1">
                <a:solidFill>
                  <a:srgbClr val="FFFFFF"/>
                </a:solidFill>
                <a:latin typeface="Raleway Semi-Bold"/>
                <a:ea typeface="Raleway Semi-Bold"/>
                <a:cs typeface="Raleway Semi-Bold"/>
                <a:sym typeface="Raleway Semi-Bold"/>
              </a:rPr>
              <a:t>BullStop</a:t>
            </a:r>
            <a:r>
              <a:rPr lang="en-US" sz="2357" b="1" dirty="0">
                <a:solidFill>
                  <a:srgbClr val="FFFFFF"/>
                </a:solidFill>
                <a:latin typeface="Raleway Semi-Bold"/>
                <a:ea typeface="Raleway Semi-Bold"/>
                <a:cs typeface="Raleway Semi-Bold"/>
                <a:sym typeface="Raleway Semi-Bold"/>
              </a:rPr>
              <a:t>: A Mobile App for Cyberbullying Prevention.</a:t>
            </a:r>
          </a:p>
          <a:p>
            <a:pPr algn="just">
              <a:lnSpc>
                <a:spcPts val="2499"/>
              </a:lnSpc>
              <a:spcBef>
                <a:spcPct val="0"/>
              </a:spcBef>
            </a:pPr>
            <a:r>
              <a:rPr lang="en-US" sz="2357" b="1" dirty="0">
                <a:solidFill>
                  <a:srgbClr val="FFFFFF"/>
                </a:solidFill>
                <a:latin typeface="Raleway Semi-Bold"/>
                <a:ea typeface="Raleway Semi-Bold"/>
                <a:cs typeface="Raleway Semi-Bold"/>
                <a:sym typeface="Raleway Semi-Bold"/>
              </a:rPr>
              <a:t> Authors: </a:t>
            </a:r>
            <a:r>
              <a:rPr lang="en-US" sz="2357" b="1" dirty="0" err="1">
                <a:solidFill>
                  <a:srgbClr val="FFFFFF"/>
                </a:solidFill>
                <a:latin typeface="Raleway Semi-Bold"/>
                <a:ea typeface="Raleway Semi-Bold"/>
                <a:cs typeface="Raleway Semi-Bold"/>
                <a:sym typeface="Raleway Semi-Bold"/>
              </a:rPr>
              <a:t>Semiu</a:t>
            </a:r>
            <a:r>
              <a:rPr lang="en-US" sz="2357" b="1" dirty="0">
                <a:solidFill>
                  <a:srgbClr val="FFFFFF"/>
                </a:solidFill>
                <a:latin typeface="Raleway Semi-Bold"/>
                <a:ea typeface="Raleway Semi-Bold"/>
                <a:cs typeface="Raleway Semi-Bold"/>
                <a:sym typeface="Raleway Semi-Bold"/>
              </a:rPr>
              <a:t> Salawu et al., 2020.</a:t>
            </a:r>
          </a:p>
        </p:txBody>
      </p:sp>
      <p:sp>
        <p:nvSpPr>
          <p:cNvPr id="12" name="TextBox 12"/>
          <p:cNvSpPr txBox="1"/>
          <p:nvPr/>
        </p:nvSpPr>
        <p:spPr>
          <a:xfrm>
            <a:off x="817727" y="5963993"/>
            <a:ext cx="11145673" cy="642000"/>
          </a:xfrm>
          <a:prstGeom prst="rect">
            <a:avLst/>
          </a:prstGeom>
        </p:spPr>
        <p:txBody>
          <a:bodyPr wrap="square" lIns="0" tIns="0" rIns="0" bIns="0" rtlCol="0" anchor="t">
            <a:spAutoFit/>
          </a:bodyPr>
          <a:lstStyle/>
          <a:p>
            <a:pPr algn="l">
              <a:lnSpc>
                <a:spcPts val="2499"/>
              </a:lnSpc>
              <a:spcBef>
                <a:spcPct val="0"/>
              </a:spcBef>
            </a:pPr>
            <a:r>
              <a:rPr lang="en-US" sz="2357" b="1" dirty="0">
                <a:solidFill>
                  <a:srgbClr val="FFFFFF"/>
                </a:solidFill>
                <a:latin typeface="Raleway Semi-Bold"/>
                <a:ea typeface="Raleway Semi-Bold"/>
                <a:cs typeface="Raleway Semi-Bold"/>
                <a:sym typeface="Raleway Semi-Bold"/>
              </a:rPr>
              <a:t>[3] Intelligent Multi-Lingual Cyber-Hate Detection in Online Social Networks.</a:t>
            </a:r>
          </a:p>
          <a:p>
            <a:pPr algn="l">
              <a:lnSpc>
                <a:spcPts val="2499"/>
              </a:lnSpc>
              <a:spcBef>
                <a:spcPct val="0"/>
              </a:spcBef>
            </a:pPr>
            <a:r>
              <a:rPr lang="en-US" sz="2357" b="1" dirty="0">
                <a:solidFill>
                  <a:srgbClr val="FFFFFF"/>
                </a:solidFill>
                <a:latin typeface="Raleway Semi-Bold"/>
                <a:ea typeface="Raleway Semi-Bold"/>
                <a:cs typeface="Raleway Semi-Bold"/>
                <a:sym typeface="Raleway Semi-Bold"/>
              </a:rPr>
              <a:t> Authors: Donia Gamal et al., 2023.</a:t>
            </a:r>
          </a:p>
        </p:txBody>
      </p:sp>
      <p:sp>
        <p:nvSpPr>
          <p:cNvPr id="13" name="TextBox 13"/>
          <p:cNvSpPr txBox="1"/>
          <p:nvPr/>
        </p:nvSpPr>
        <p:spPr>
          <a:xfrm>
            <a:off x="817727" y="7996230"/>
            <a:ext cx="16902038" cy="642000"/>
          </a:xfrm>
          <a:prstGeom prst="rect">
            <a:avLst/>
          </a:prstGeom>
        </p:spPr>
        <p:txBody>
          <a:bodyPr lIns="0" tIns="0" rIns="0" bIns="0" rtlCol="0" anchor="t">
            <a:spAutoFit/>
          </a:bodyPr>
          <a:lstStyle/>
          <a:p>
            <a:pPr algn="l">
              <a:lnSpc>
                <a:spcPts val="2499"/>
              </a:lnSpc>
              <a:spcBef>
                <a:spcPct val="0"/>
              </a:spcBef>
            </a:pPr>
            <a:r>
              <a:rPr lang="en-US" sz="2357" b="1">
                <a:solidFill>
                  <a:srgbClr val="FFFFFF"/>
                </a:solidFill>
                <a:latin typeface="Raleway Semi-Bold"/>
                <a:ea typeface="Raleway Semi-Bold"/>
                <a:cs typeface="Raleway Semi-Bold"/>
                <a:sym typeface="Raleway Semi-Bold"/>
              </a:rPr>
              <a:t>[4] Advancing Cyberbullying Detection: A Hybrid Machine Learning and Deep Learning Framework.</a:t>
            </a:r>
          </a:p>
          <a:p>
            <a:pPr algn="l">
              <a:lnSpc>
                <a:spcPts val="2499"/>
              </a:lnSpc>
              <a:spcBef>
                <a:spcPct val="0"/>
              </a:spcBef>
            </a:pPr>
            <a:r>
              <a:rPr lang="en-US" sz="2357" b="1">
                <a:solidFill>
                  <a:srgbClr val="FFFFFF"/>
                </a:solidFill>
                <a:latin typeface="Raleway Semi-Bold"/>
                <a:ea typeface="Raleway Semi-Bold"/>
                <a:cs typeface="Raleway Semi-Bold"/>
                <a:sym typeface="Raleway Semi-Bold"/>
              </a:rPr>
              <a:t> Authors: Bishal Shyam Purkayastha et al., 2025.</a:t>
            </a:r>
          </a:p>
        </p:txBody>
      </p:sp>
      <p:sp>
        <p:nvSpPr>
          <p:cNvPr id="14" name="Freeform 14"/>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5231795" y="1150298"/>
            <a:ext cx="8301354" cy="1169067"/>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SDG </a:t>
            </a:r>
            <a:r>
              <a:rPr lang="en-US" sz="8430" b="1">
                <a:solidFill>
                  <a:srgbClr val="FFFFFF"/>
                </a:solidFill>
                <a:latin typeface="TT Lakes Neue Bold"/>
                <a:ea typeface="TT Lakes Neue Bold"/>
                <a:cs typeface="TT Lakes Neue Bold"/>
                <a:sym typeface="TT Lakes Neue Bold"/>
              </a:rPr>
              <a:t>MAPPED</a:t>
            </a:r>
          </a:p>
        </p:txBody>
      </p:sp>
      <p:sp>
        <p:nvSpPr>
          <p:cNvPr id="4" name="TextBox 4"/>
          <p:cNvSpPr txBox="1"/>
          <p:nvPr/>
        </p:nvSpPr>
        <p:spPr>
          <a:xfrm>
            <a:off x="15840483" y="1043276"/>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 </a:t>
            </a:r>
          </a:p>
        </p:txBody>
      </p:sp>
      <p:sp>
        <p:nvSpPr>
          <p:cNvPr id="5" name="Freeform 5"/>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48408" y="3375033"/>
            <a:ext cx="16068127" cy="4137972"/>
          </a:xfrm>
          <a:prstGeom prst="rect">
            <a:avLst/>
          </a:prstGeom>
        </p:spPr>
        <p:txBody>
          <a:bodyPr lIns="0" tIns="0" rIns="0" bIns="0" rtlCol="0" anchor="t">
            <a:spAutoFit/>
          </a:bodyPr>
          <a:lstStyle/>
          <a:p>
            <a:pPr marL="744011" lvl="1" indent="-372006" algn="l">
              <a:lnSpc>
                <a:spcPts val="3652"/>
              </a:lnSpc>
              <a:buFont typeface="Arial"/>
              <a:buChar char="•"/>
            </a:pPr>
            <a:r>
              <a:rPr lang="en-US" sz="3446" b="1">
                <a:solidFill>
                  <a:srgbClr val="FFFFFF"/>
                </a:solidFill>
                <a:latin typeface="Raleway Semi-Bold"/>
                <a:ea typeface="Raleway Semi-Bold"/>
                <a:cs typeface="Raleway Semi-Bold"/>
                <a:sym typeface="Raleway Semi-Bold"/>
              </a:rPr>
              <a:t>SDG 3: Good Health &amp; Well-being – Reduce mental health harm from cyberbullying.</a:t>
            </a:r>
          </a:p>
          <a:p>
            <a:pPr algn="l">
              <a:lnSpc>
                <a:spcPts val="3652"/>
              </a:lnSpc>
            </a:pPr>
            <a:endParaRPr lang="en-US" sz="3446" b="1">
              <a:solidFill>
                <a:srgbClr val="FFFFFF"/>
              </a:solidFill>
              <a:latin typeface="Raleway Semi-Bold"/>
              <a:ea typeface="Raleway Semi-Bold"/>
              <a:cs typeface="Raleway Semi-Bold"/>
              <a:sym typeface="Raleway Semi-Bold"/>
            </a:endParaRPr>
          </a:p>
          <a:p>
            <a:pPr marL="744011" lvl="1" indent="-372006" algn="l">
              <a:lnSpc>
                <a:spcPts val="3652"/>
              </a:lnSpc>
              <a:buFont typeface="Arial"/>
              <a:buChar char="•"/>
            </a:pPr>
            <a:r>
              <a:rPr lang="en-US" sz="3446" b="1">
                <a:solidFill>
                  <a:srgbClr val="FFFFFF"/>
                </a:solidFill>
                <a:latin typeface="Raleway Semi-Bold"/>
                <a:ea typeface="Raleway Semi-Bold"/>
                <a:cs typeface="Raleway Semi-Bold"/>
                <a:sym typeface="Raleway Semi-Bold"/>
              </a:rPr>
              <a:t>SDG 4: Quality Education – Promote safe digital learning spaces.</a:t>
            </a:r>
          </a:p>
          <a:p>
            <a:pPr algn="l">
              <a:lnSpc>
                <a:spcPts val="3652"/>
              </a:lnSpc>
            </a:pPr>
            <a:endParaRPr lang="en-US" sz="3446" b="1">
              <a:solidFill>
                <a:srgbClr val="FFFFFF"/>
              </a:solidFill>
              <a:latin typeface="Raleway Semi-Bold"/>
              <a:ea typeface="Raleway Semi-Bold"/>
              <a:cs typeface="Raleway Semi-Bold"/>
              <a:sym typeface="Raleway Semi-Bold"/>
            </a:endParaRPr>
          </a:p>
          <a:p>
            <a:pPr marL="744011" lvl="1" indent="-372006" algn="l">
              <a:lnSpc>
                <a:spcPts val="3652"/>
              </a:lnSpc>
              <a:buFont typeface="Arial"/>
              <a:buChar char="•"/>
            </a:pPr>
            <a:r>
              <a:rPr lang="en-US" sz="3446" b="1">
                <a:solidFill>
                  <a:srgbClr val="FFFFFF"/>
                </a:solidFill>
                <a:latin typeface="Raleway Semi-Bold"/>
                <a:ea typeface="Raleway Semi-Bold"/>
                <a:cs typeface="Raleway Semi-Bold"/>
                <a:sym typeface="Raleway Semi-Bold"/>
              </a:rPr>
              <a:t>SDG 10: Reduced Inequalities – Multilingual support for inclusivity.</a:t>
            </a:r>
          </a:p>
          <a:p>
            <a:pPr algn="l">
              <a:lnSpc>
                <a:spcPts val="3652"/>
              </a:lnSpc>
            </a:pPr>
            <a:endParaRPr lang="en-US" sz="3446" b="1">
              <a:solidFill>
                <a:srgbClr val="FFFFFF"/>
              </a:solidFill>
              <a:latin typeface="Raleway Semi-Bold"/>
              <a:ea typeface="Raleway Semi-Bold"/>
              <a:cs typeface="Raleway Semi-Bold"/>
              <a:sym typeface="Raleway Semi-Bold"/>
            </a:endParaRPr>
          </a:p>
          <a:p>
            <a:pPr marL="744011" lvl="1" indent="-372006" algn="l">
              <a:lnSpc>
                <a:spcPts val="3652"/>
              </a:lnSpc>
              <a:buFont typeface="Arial"/>
              <a:buChar char="•"/>
            </a:pPr>
            <a:r>
              <a:rPr lang="en-US" sz="3446" b="1">
                <a:solidFill>
                  <a:srgbClr val="FFFFFF"/>
                </a:solidFill>
                <a:latin typeface="Raleway Semi-Bold"/>
                <a:ea typeface="Raleway Semi-Bold"/>
                <a:cs typeface="Raleway Semi-Bold"/>
                <a:sym typeface="Raleway Semi-Bold"/>
              </a:rPr>
              <a:t>SDG 16: Peace, Justice &amp; Strong Institutions – Promote safe and peaceful online communities.</a:t>
            </a:r>
          </a:p>
        </p:txBody>
      </p:sp>
      <p:sp>
        <p:nvSpPr>
          <p:cNvPr id="7" name="Freeform 7"/>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8256726" y="-1053442"/>
            <a:ext cx="9981859" cy="13795182"/>
            <a:chOff x="0" y="0"/>
            <a:chExt cx="2628967" cy="3633299"/>
          </a:xfrm>
        </p:grpSpPr>
        <p:sp>
          <p:nvSpPr>
            <p:cNvPr id="4" name="Freeform 4"/>
            <p:cNvSpPr/>
            <p:nvPr/>
          </p:nvSpPr>
          <p:spPr>
            <a:xfrm>
              <a:off x="0" y="0"/>
              <a:ext cx="2628967" cy="3633299"/>
            </a:xfrm>
            <a:custGeom>
              <a:avLst/>
              <a:gdLst/>
              <a:ahLst/>
              <a:cxnLst/>
              <a:rect l="l" t="t" r="r" b="b"/>
              <a:pathLst>
                <a:path w="2628967" h="3633299">
                  <a:moveTo>
                    <a:pt x="0" y="0"/>
                  </a:moveTo>
                  <a:lnTo>
                    <a:pt x="2628967" y="0"/>
                  </a:lnTo>
                  <a:lnTo>
                    <a:pt x="2628967" y="3633299"/>
                  </a:lnTo>
                  <a:lnTo>
                    <a:pt x="0" y="3633299"/>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2628967" cy="3604724"/>
            </a:xfrm>
            <a:prstGeom prst="rect">
              <a:avLst/>
            </a:prstGeom>
          </p:spPr>
          <p:txBody>
            <a:bodyPr lIns="50800" tIns="50800" rIns="50800" bIns="50800" rtlCol="0" anchor="ctr"/>
            <a:lstStyle/>
            <a:p>
              <a:pPr algn="ctr">
                <a:lnSpc>
                  <a:spcPts val="2181"/>
                </a:lnSpc>
              </a:pPr>
              <a:endParaRPr/>
            </a:p>
          </p:txBody>
        </p:sp>
      </p:grpSp>
      <p:sp>
        <p:nvSpPr>
          <p:cNvPr id="6" name="Freeform 6"/>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8" name="Freeform 8"/>
          <p:cNvSpPr/>
          <p:nvPr/>
        </p:nvSpPr>
        <p:spPr>
          <a:xfrm>
            <a:off x="2612182" y="2559053"/>
            <a:ext cx="6342325" cy="6227010"/>
          </a:xfrm>
          <a:custGeom>
            <a:avLst/>
            <a:gdLst/>
            <a:ahLst/>
            <a:cxnLst/>
            <a:rect l="l" t="t" r="r" b="b"/>
            <a:pathLst>
              <a:path w="6342325" h="6227010">
                <a:moveTo>
                  <a:pt x="0" y="0"/>
                </a:moveTo>
                <a:lnTo>
                  <a:pt x="6342325" y="0"/>
                </a:lnTo>
                <a:lnTo>
                  <a:pt x="6342325" y="6227010"/>
                </a:lnTo>
                <a:lnTo>
                  <a:pt x="0" y="6227010"/>
                </a:lnTo>
                <a:lnTo>
                  <a:pt x="0" y="0"/>
                </a:lnTo>
                <a:close/>
              </a:path>
            </a:pathLst>
          </a:custGeom>
          <a:blipFill>
            <a:blip>
              <a:alphaModFix amt="68000"/>
              <a:extLst>
                <a:ext uri="{96DAC541-7B7A-43D3-8B79-37D633B846F1}">
                  <asvg:svgBlip xmlns:asvg="http://schemas.microsoft.com/office/drawing/2016/SVG/main" r:embed="rId2"/>
                </a:ext>
              </a:extLst>
            </a:blip>
            <a:stretch>
              <a:fillRect/>
            </a:stretch>
          </a:blipFill>
        </p:spPr>
      </p:sp>
      <p:grpSp>
        <p:nvGrpSpPr>
          <p:cNvPr id="9" name="Group 9"/>
          <p:cNvGrpSpPr>
            <a:grpSpLocks noChangeAspect="1"/>
          </p:cNvGrpSpPr>
          <p:nvPr/>
        </p:nvGrpSpPr>
        <p:grpSpPr>
          <a:xfrm>
            <a:off x="3718975" y="3488035"/>
            <a:ext cx="4356595" cy="4356595"/>
            <a:chOff x="0" y="0"/>
            <a:chExt cx="14840029" cy="14840029"/>
          </a:xfrm>
        </p:grpSpPr>
        <p:sp>
          <p:nvSpPr>
            <p:cNvPr id="10" name="Freeform 10"/>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0BBDE"/>
            </a:solidFill>
          </p:spPr>
        </p:sp>
        <p:sp>
          <p:nvSpPr>
            <p:cNvPr id="11" name="Freeform 11"/>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2" name="Freeform 12"/>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6656" r="-26656"/>
              </a:stretch>
            </a:blipFill>
          </p:spPr>
        </p:sp>
      </p:grpSp>
      <p:sp>
        <p:nvSpPr>
          <p:cNvPr id="13" name="TextBox 13"/>
          <p:cNvSpPr txBox="1"/>
          <p:nvPr/>
        </p:nvSpPr>
        <p:spPr>
          <a:xfrm>
            <a:off x="9449807" y="2163114"/>
            <a:ext cx="6436672" cy="1167826"/>
          </a:xfrm>
          <a:prstGeom prst="rect">
            <a:avLst/>
          </a:prstGeom>
        </p:spPr>
        <p:txBody>
          <a:bodyPr lIns="0" tIns="0" rIns="0" bIns="0" rtlCol="0" anchor="t">
            <a:spAutoFit/>
          </a:bodyPr>
          <a:lstStyle/>
          <a:p>
            <a:pPr algn="l">
              <a:lnSpc>
                <a:spcPts val="8936"/>
              </a:lnSpc>
              <a:spcBef>
                <a:spcPct val="0"/>
              </a:spcBef>
            </a:pPr>
            <a:r>
              <a:rPr lang="en-US" sz="8430" b="1">
                <a:solidFill>
                  <a:srgbClr val="FFFFFF"/>
                </a:solidFill>
                <a:latin typeface="TT Lakes Neue Bold"/>
                <a:ea typeface="TT Lakes Neue Bold"/>
                <a:cs typeface="TT Lakes Neue Bold"/>
                <a:sym typeface="TT Lakes Neue Bold"/>
              </a:rPr>
              <a:t>MAPPED</a:t>
            </a:r>
          </a:p>
        </p:txBody>
      </p:sp>
      <p:sp>
        <p:nvSpPr>
          <p:cNvPr id="14" name="TextBox 14"/>
          <p:cNvSpPr txBox="1"/>
          <p:nvPr/>
        </p:nvSpPr>
        <p:spPr>
          <a:xfrm>
            <a:off x="9449807" y="1274925"/>
            <a:ext cx="5702432" cy="1167826"/>
          </a:xfrm>
          <a:prstGeom prst="rect">
            <a:avLst/>
          </a:prstGeom>
        </p:spPr>
        <p:txBody>
          <a:bodyPr lIns="0" tIns="0" rIns="0" bIns="0" rtlCol="0" anchor="t">
            <a:spAutoFit/>
          </a:bodyPr>
          <a:lstStyle/>
          <a:p>
            <a:pPr algn="l">
              <a:lnSpc>
                <a:spcPts val="8936"/>
              </a:lnSpc>
              <a:spcBef>
                <a:spcPct val="0"/>
              </a:spcBef>
            </a:pPr>
            <a:r>
              <a:rPr lang="en-US" sz="8430" b="1">
                <a:solidFill>
                  <a:srgbClr val="84E3F8"/>
                </a:solidFill>
                <a:latin typeface="TT Lakes Neue Bold"/>
                <a:ea typeface="TT Lakes Neue Bold"/>
                <a:cs typeface="TT Lakes Neue Bold"/>
                <a:sym typeface="TT Lakes Neue Bold"/>
              </a:rPr>
              <a:t>PO &amp; PSO</a:t>
            </a:r>
          </a:p>
        </p:txBody>
      </p:sp>
      <p:sp>
        <p:nvSpPr>
          <p:cNvPr id="15" name="TextBox 15"/>
          <p:cNvSpPr txBox="1"/>
          <p:nvPr/>
        </p:nvSpPr>
        <p:spPr>
          <a:xfrm>
            <a:off x="15840483" y="1043276"/>
            <a:ext cx="1418817" cy="263273"/>
          </a:xfrm>
          <a:prstGeom prst="rect">
            <a:avLst/>
          </a:prstGeom>
        </p:spPr>
        <p:txBody>
          <a:bodyPr lIns="0" tIns="0" rIns="0" bIns="0" rtlCol="0" anchor="t">
            <a:spAutoFit/>
          </a:bodyPr>
          <a:lstStyle/>
          <a:p>
            <a:pPr algn="l">
              <a:lnSpc>
                <a:spcPts val="2067"/>
              </a:lnSpc>
              <a:spcBef>
                <a:spcPct val="0"/>
              </a:spcBef>
            </a:pPr>
            <a:r>
              <a:rPr lang="en-US" sz="1950">
                <a:solidFill>
                  <a:srgbClr val="FFFFFF"/>
                </a:solidFill>
                <a:latin typeface="TT Lakes Neue"/>
                <a:ea typeface="TT Lakes Neue"/>
                <a:cs typeface="TT Lakes Neue"/>
                <a:sym typeface="TT Lakes Neue"/>
              </a:rPr>
              <a:t>GROUP - 5</a:t>
            </a:r>
          </a:p>
        </p:txBody>
      </p:sp>
      <p:sp>
        <p:nvSpPr>
          <p:cNvPr id="16" name="TextBox 16"/>
          <p:cNvSpPr txBox="1"/>
          <p:nvPr/>
        </p:nvSpPr>
        <p:spPr>
          <a:xfrm>
            <a:off x="9144000" y="3587240"/>
            <a:ext cx="8338525" cy="5671060"/>
          </a:xfrm>
          <a:prstGeom prst="rect">
            <a:avLst/>
          </a:prstGeom>
        </p:spPr>
        <p:txBody>
          <a:bodyPr lIns="0" tIns="0" rIns="0" bIns="0" rtlCol="0" anchor="t">
            <a:spAutoFit/>
          </a:bodyPr>
          <a:lstStyle/>
          <a:p>
            <a:pPr algn="l">
              <a:lnSpc>
                <a:spcPts val="2491"/>
              </a:lnSpc>
            </a:pPr>
            <a:r>
              <a:rPr lang="en-US" sz="2350" b="1">
                <a:solidFill>
                  <a:srgbClr val="FFFFFF"/>
                </a:solidFill>
                <a:latin typeface="Raleway Bold"/>
                <a:ea typeface="Raleway Bold"/>
                <a:cs typeface="Raleway Bold"/>
                <a:sym typeface="Raleway Bold"/>
              </a:rPr>
              <a:t>PO 1: Engineering knowledge</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PO 2 : Problem analysis</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PO 3 : Design/Development of solution</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PO 5 : Engineering tool usage</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PO 7 : Ethics</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PO 11 : Life long learning</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PSO 1 : Adapt  to the technological advancements in the</a:t>
            </a:r>
          </a:p>
          <a:p>
            <a:pPr algn="l">
              <a:lnSpc>
                <a:spcPts val="2491"/>
              </a:lnSpc>
            </a:pPr>
            <a:r>
              <a:rPr lang="en-US" sz="2350" b="1">
                <a:solidFill>
                  <a:srgbClr val="FFFFFF"/>
                </a:solidFill>
                <a:latin typeface="Raleway Bold"/>
                <a:ea typeface="Raleway Bold"/>
                <a:cs typeface="Raleway Bold"/>
                <a:sym typeface="Raleway Bold"/>
              </a:rPr>
              <a:t>              field of Artificial Intelligence and Data Science </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pPr>
            <a:r>
              <a:rPr lang="en-US" sz="2350" b="1">
                <a:solidFill>
                  <a:srgbClr val="FFFFFF"/>
                </a:solidFill>
                <a:latin typeface="Raleway Bold"/>
                <a:ea typeface="Raleway Bold"/>
                <a:cs typeface="Raleway Bold"/>
                <a:sym typeface="Raleway Bold"/>
              </a:rPr>
              <a:t>PSO 2: Problem Solving &amp; Data-Driven Decision Making</a:t>
            </a:r>
          </a:p>
          <a:p>
            <a:pPr algn="l">
              <a:lnSpc>
                <a:spcPts val="2491"/>
              </a:lnSpc>
            </a:pPr>
            <a:endParaRPr lang="en-US" sz="2350" b="1">
              <a:solidFill>
                <a:srgbClr val="FFFFFF"/>
              </a:solidFill>
              <a:latin typeface="Raleway Bold"/>
              <a:ea typeface="Raleway Bold"/>
              <a:cs typeface="Raleway Bold"/>
              <a:sym typeface="Raleway Bold"/>
            </a:endParaRPr>
          </a:p>
          <a:p>
            <a:pPr algn="l">
              <a:lnSpc>
                <a:spcPts val="2491"/>
              </a:lnSpc>
              <a:spcBef>
                <a:spcPct val="0"/>
              </a:spcBef>
            </a:pPr>
            <a:r>
              <a:rPr lang="en-US" sz="2350" b="1">
                <a:solidFill>
                  <a:srgbClr val="FFFFFF"/>
                </a:solidFill>
                <a:latin typeface="Raleway Bold"/>
                <a:ea typeface="Raleway Bold"/>
                <a:cs typeface="Raleway Bold"/>
                <a:sym typeface="Raleway Bold"/>
              </a:rPr>
              <a:t>PSO 3: Software Development &amp; Deployment Skills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5400000">
            <a:off x="4984803" y="-1314334"/>
            <a:ext cx="8318394" cy="13299759"/>
          </a:xfrm>
          <a:custGeom>
            <a:avLst/>
            <a:gdLst/>
            <a:ahLst/>
            <a:cxnLst/>
            <a:rect l="l" t="t" r="r" b="b"/>
            <a:pathLst>
              <a:path w="8318394" h="13299759">
                <a:moveTo>
                  <a:pt x="0" y="0"/>
                </a:moveTo>
                <a:lnTo>
                  <a:pt x="8318394" y="0"/>
                </a:lnTo>
                <a:lnTo>
                  <a:pt x="8318394" y="13299759"/>
                </a:lnTo>
                <a:lnTo>
                  <a:pt x="0" y="1329975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6595089" y="4598153"/>
            <a:ext cx="5097823" cy="1636709"/>
          </a:xfrm>
          <a:prstGeom prst="rect">
            <a:avLst/>
          </a:prstGeom>
        </p:spPr>
        <p:txBody>
          <a:bodyPr lIns="0" tIns="0" rIns="0" bIns="0" rtlCol="0" anchor="t">
            <a:spAutoFit/>
          </a:bodyPr>
          <a:lstStyle/>
          <a:p>
            <a:pPr algn="ctr">
              <a:lnSpc>
                <a:spcPts val="12523"/>
              </a:lnSpc>
              <a:spcBef>
                <a:spcPct val="0"/>
              </a:spcBef>
            </a:pPr>
            <a:r>
              <a:rPr lang="en-US" sz="11814" b="1">
                <a:solidFill>
                  <a:srgbClr val="FFFFFF"/>
                </a:solidFill>
                <a:latin typeface="TT Lakes Neue Bold"/>
                <a:ea typeface="TT Lakes Neue Bold"/>
                <a:cs typeface="TT Lakes Neue Bold"/>
                <a:sym typeface="TT Lakes Neue Bold"/>
              </a:rPr>
              <a:t>YOU!</a:t>
            </a:r>
          </a:p>
        </p:txBody>
      </p:sp>
      <p:sp>
        <p:nvSpPr>
          <p:cNvPr id="4" name="TextBox 4"/>
          <p:cNvSpPr txBox="1"/>
          <p:nvPr/>
        </p:nvSpPr>
        <p:spPr>
          <a:xfrm>
            <a:off x="6245623" y="3359600"/>
            <a:ext cx="5796755" cy="1636656"/>
          </a:xfrm>
          <a:prstGeom prst="rect">
            <a:avLst/>
          </a:prstGeom>
        </p:spPr>
        <p:txBody>
          <a:bodyPr lIns="0" tIns="0" rIns="0" bIns="0" rtlCol="0" anchor="t">
            <a:spAutoFit/>
          </a:bodyPr>
          <a:lstStyle/>
          <a:p>
            <a:pPr algn="ctr">
              <a:lnSpc>
                <a:spcPts val="12523"/>
              </a:lnSpc>
              <a:spcBef>
                <a:spcPct val="0"/>
              </a:spcBef>
            </a:pPr>
            <a:r>
              <a:rPr lang="en-US" sz="11814" b="1">
                <a:solidFill>
                  <a:srgbClr val="84E3F8"/>
                </a:solidFill>
                <a:latin typeface="TT Lakes Neue Bold"/>
                <a:ea typeface="TT Lakes Neue Bold"/>
                <a:cs typeface="TT Lakes Neue Bold"/>
                <a:sym typeface="TT Lakes Neue Bold"/>
              </a:rPr>
              <a:t>THANK</a:t>
            </a:r>
          </a:p>
        </p:txBody>
      </p:sp>
      <p:sp>
        <p:nvSpPr>
          <p:cNvPr id="5" name="Freeform 5"/>
          <p:cNvSpPr/>
          <p:nvPr/>
        </p:nvSpPr>
        <p:spPr>
          <a:xfrm>
            <a:off x="2494121" y="857710"/>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27000"/>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5430049" y="954693"/>
            <a:ext cx="8032385" cy="2302542"/>
          </a:xfrm>
          <a:prstGeom prst="rect">
            <a:avLst/>
          </a:prstGeom>
        </p:spPr>
        <p:txBody>
          <a:bodyPr lIns="0" tIns="0" rIns="0" bIns="0" rtlCol="0" anchor="t">
            <a:spAutoFit/>
          </a:bodyPr>
          <a:lstStyle/>
          <a:p>
            <a:pPr algn="ctr">
              <a:lnSpc>
                <a:spcPts val="8936"/>
              </a:lnSpc>
              <a:spcBef>
                <a:spcPct val="0"/>
              </a:spcBef>
            </a:pPr>
            <a:r>
              <a:rPr lang="en-US" sz="8430" b="1">
                <a:solidFill>
                  <a:srgbClr val="84E3F8"/>
                </a:solidFill>
                <a:latin typeface="TT Lakes Neue Bold"/>
                <a:ea typeface="TT Lakes Neue Bold"/>
                <a:cs typeface="TT Lakes Neue Bold"/>
                <a:sym typeface="TT Lakes Neue Bold"/>
              </a:rPr>
              <a:t>FINAL </a:t>
            </a:r>
            <a:r>
              <a:rPr lang="en-US" sz="8430" b="1">
                <a:solidFill>
                  <a:srgbClr val="FFFFFF"/>
                </a:solidFill>
                <a:latin typeface="TT Lakes Neue Bold"/>
                <a:ea typeface="TT Lakes Neue Bold"/>
                <a:cs typeface="TT Lakes Neue Bold"/>
                <a:sym typeface="TT Lakes Neue Bold"/>
              </a:rPr>
              <a:t>REPORT </a:t>
            </a:r>
          </a:p>
        </p:txBody>
      </p:sp>
      <p:sp>
        <p:nvSpPr>
          <p:cNvPr id="3" name="TextBox 3"/>
          <p:cNvSpPr txBox="1"/>
          <p:nvPr/>
        </p:nvSpPr>
        <p:spPr>
          <a:xfrm>
            <a:off x="1711939" y="4664677"/>
            <a:ext cx="15885183" cy="1597660"/>
          </a:xfrm>
          <a:prstGeom prst="rect">
            <a:avLst/>
          </a:prstGeom>
        </p:spPr>
        <p:txBody>
          <a:bodyPr lIns="0" tIns="0" rIns="0" bIns="0" rtlCol="0" anchor="t">
            <a:spAutoFit/>
          </a:bodyPr>
          <a:lstStyle/>
          <a:p>
            <a:pPr algn="l">
              <a:lnSpc>
                <a:spcPts val="6439"/>
              </a:lnSpc>
            </a:pPr>
            <a:r>
              <a:rPr lang="en-US" sz="4599" u="sng">
                <a:solidFill>
                  <a:srgbClr val="FFFFFF"/>
                </a:solidFill>
                <a:latin typeface="Raleway"/>
                <a:ea typeface="Raleway"/>
                <a:cs typeface="Raleway"/>
                <a:sym typeface="Raleway"/>
                <a:hlinkClick r:id="rId2" tooltip="https://drive.google.com/file/d/1fAt1iYejaj8CcjPpNyi_Fvzn8fZsW5nr/view?usp=sharing"/>
              </a:rPr>
              <a:t>https://drive.google.com/file/d/1dNagp2kn0aGf5O1g3IcKYKxE9ARliOHE/view?usp=sharing</a:t>
            </a:r>
          </a:p>
        </p:txBody>
      </p:sp>
      <p:sp>
        <p:nvSpPr>
          <p:cNvPr id="4" name="Freeform 4"/>
          <p:cNvSpPr/>
          <p:nvPr/>
        </p:nvSpPr>
        <p:spPr>
          <a:xfrm>
            <a:off x="16212434" y="7140864"/>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5" name="Freeform 5"/>
          <p:cNvSpPr/>
          <p:nvPr/>
        </p:nvSpPr>
        <p:spPr>
          <a:xfrm>
            <a:off x="1559224" y="3002514"/>
            <a:ext cx="1789958" cy="1757413"/>
          </a:xfrm>
          <a:custGeom>
            <a:avLst/>
            <a:gdLst/>
            <a:ahLst/>
            <a:cxnLst/>
            <a:rect l="l" t="t" r="r" b="b"/>
            <a:pathLst>
              <a:path w="1789958" h="1757413">
                <a:moveTo>
                  <a:pt x="0" y="0"/>
                </a:moveTo>
                <a:lnTo>
                  <a:pt x="1789958" y="0"/>
                </a:lnTo>
                <a:lnTo>
                  <a:pt x="1789958" y="1757413"/>
                </a:lnTo>
                <a:lnTo>
                  <a:pt x="0" y="1757413"/>
                </a:lnTo>
                <a:lnTo>
                  <a:pt x="0" y="0"/>
                </a:lnTo>
                <a:close/>
              </a:path>
            </a:pathLst>
          </a:custGeom>
          <a:blipFill>
            <a:blip>
              <a:alphaModFix amt="71000"/>
              <a:extLst>
                <a:ext uri="{96DAC541-7B7A-43D3-8B79-37D633B846F1}">
                  <asvg:svgBlip xmlns:asvg="http://schemas.microsoft.com/office/drawing/2016/SVG/main" r:embed="rId3"/>
                </a:ext>
              </a:extLst>
            </a:blip>
            <a:stretch>
              <a:fillRect/>
            </a:stretch>
          </a:blipFill>
        </p:spPr>
      </p:sp>
      <p:sp>
        <p:nvSpPr>
          <p:cNvPr id="6" name="Freeform 6"/>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1989</Words>
  <Application>Microsoft Office PowerPoint</Application>
  <PresentationFormat>Custom</PresentationFormat>
  <Paragraphs>290</Paragraphs>
  <Slides>30</Slides>
  <Notes>0</Notes>
  <HiddenSlides>0</HiddenSlides>
  <MMClips>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TT Lakes Neue</vt:lpstr>
      <vt:lpstr>Raleway</vt:lpstr>
      <vt:lpstr>Raleway Semi-Bold</vt:lpstr>
      <vt:lpstr>Calibri</vt:lpstr>
      <vt:lpstr>Raleway Bold</vt:lpstr>
      <vt:lpstr>TT Lakes Neue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1B - AI POWERED CYBERBULLYING DETECTOR</dc:title>
  <cp:lastModifiedBy>NAVYA ROSHNI</cp:lastModifiedBy>
  <cp:revision>9</cp:revision>
  <dcterms:created xsi:type="dcterms:W3CDTF">2006-08-16T00:00:00Z</dcterms:created>
  <dcterms:modified xsi:type="dcterms:W3CDTF">2026-05-03T18:55:38Z</dcterms:modified>
  <dc:identifier>DAG057-6bdc</dc:identifier>
</cp:coreProperties>
</file>